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7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7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9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4201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40F2E-6C19-3979-FBB2-BDC3D53DC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FC3CE-A8E5-FD19-B95B-EFC596D5A8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25185-D901-3C51-2A5F-6857C5B11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F8181-6AED-3967-AF58-05E6ACEF8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4393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4B4F8-B7ED-464E-B1D7-805E55FCF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DE34A-BFD5-ABF7-85E9-20F522B65B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201485-4F9E-59D0-6CDD-2F135E462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81325B-A810-FA04-AB56-3CA785353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48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12064"/>
            <a:ext cx="77724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64008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PHIL 4251 Final Project</a:t>
            </a:r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1508760"/>
            <a:ext cx="91440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162763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Listening to Sanskrit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96112" y="2743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E0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Morphology, meditation, and the journey from India to China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5303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000" b="0">
                <a:solidFill>
                  <a:srgbClr val="CADCFC"/>
                </a:solidFill>
                <a:latin typeface="Avenir Next"/>
              </a:rPr>
              <a:t>Jai Bajaj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56235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6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 Philosophy Final Project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6144768"/>
            <a:ext cx="338328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in One Sentence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371600"/>
            <a:ext cx="10332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philosophical terms are built structures. Their roots, prefixes, and compounds often carry part of the argument - and when those terms move into Chinese, translation choices can reshape the philosophy.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48056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183880" y="274320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999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Break the word open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87552" y="340156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 roots, prefixes, suffixes, and compounds rather than starting with an English gloss.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29992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Ask what that structure does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3493008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determine meaning by itself, but it often narrows what kinds of meaning are plausible.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94192" y="299923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Then follow the concept across languages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94192" y="3529584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terms travel clearly. Others change shape - and those gaps are part of the finding.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Defining Sutra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Yoga Sutra 1.2 is already a compressed philosophical argument.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10561320" cy="1965960"/>
          </a:xfrm>
          <a:prstGeom prst="roundRect">
            <a:avLst>
              <a:gd name="adj" fmla="val 3721"/>
            </a:avLst>
          </a:prstGeom>
          <a:solidFill>
            <a:srgbClr val="FFFCF8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3444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F2A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योगश्चित्तवृत्तिनिरोधः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07008" y="2267712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2632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yogaś citta-vṛtti-nirodhaḥ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89320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"Yoga is the stilling of the turnings of the mind."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72200" y="2487168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matters for this project is that three technical terms are packed into one 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6128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6128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mind-field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740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vṛtti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0740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turnings / modifications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9F5E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5352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nirodha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65352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stilling or restraint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5742432"/>
            <a:ext cx="10241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argument is that if we open these words up carefully, the philosophy becomes sharper.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Sanskrit Breakdown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43000" y="141732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07592" y="149961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28800" y="1399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visible pieces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17720" y="138074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term be segmented into a root, prefixes, suffixes, or a compound?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3000" y="265176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07592" y="273405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2633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the morphology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61518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whether that breakdown is supported by standard lexica and Sanskrit usage.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43000" y="388620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307592" y="396849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386791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from literal to philosophical meaning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7720" y="384962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what the built word suggests inside the Yoga Sutras, not in isolation.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3776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143000" y="512064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307592" y="520293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51023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then compare across languages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17720" y="508406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matches are strongest when sound, meaning, and attestation line up together.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0120" y="6272784"/>
            <a:ext cx="9692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discipline is to keep evidence and interpretation separate.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276DE-501A-5B02-FDD9-A93EBCF20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B8C1BF-73D7-EC9F-EBA5-7325371BC038}"/>
              </a:ext>
            </a:extLst>
          </p:cNvPr>
          <p:cNvSpPr/>
          <p:nvPr/>
        </p:nvSpPr>
        <p:spPr>
          <a:xfrm>
            <a:off x="10972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https://jbajaj6.github.io/</a:t>
            </a:r>
            <a:r>
              <a:rPr lang="en-US" sz="2500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sanskrit_etymology</a:t>
            </a: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F53B571-87D1-659B-D5AF-21575C494C9C}"/>
              </a:ext>
            </a:extLst>
          </p:cNvPr>
          <p:cNvSpPr/>
          <p:nvPr/>
        </p:nvSpPr>
        <p:spPr>
          <a:xfrm>
            <a:off x="1115568" y="3383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little demo I have prepared</a:t>
            </a:r>
            <a:endParaRPr lang="en-US" sz="11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4AD4C27-7455-65F8-9237-E79F7C191BF6}"/>
              </a:ext>
            </a:extLst>
          </p:cNvPr>
          <p:cNvSpPr/>
          <p:nvPr/>
        </p:nvSpPr>
        <p:spPr>
          <a:xfrm>
            <a:off x="1097280" y="2331720"/>
            <a:ext cx="105156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401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समाधि  samādhi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1 - a word whose structure supports the standard philosophical reading.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54880" y="1234440"/>
            <a:ext cx="58978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sam- </a:t>
            </a: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"together"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a-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"toward"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√dhā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 place, put"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-i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noun ending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43159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Literal build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572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complete placing-together"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74920" y="15727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4920" y="1938528"/>
            <a:ext cx="5074920" cy="2103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prove the doctrine, but it strongly supports the usual sense of collected absorption.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word already suggests gathering or bringing awareness into coherence, not a random altered state.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why samādhi works as both a technical term for meditative absorption and a word whose internal architecture feels unusually apt.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74920" y="4370832"/>
            <a:ext cx="4983480" cy="868680"/>
          </a:xfrm>
          <a:prstGeom prst="roundRect">
            <a:avLst>
              <a:gd name="adj" fmla="val 8421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21808" y="4590288"/>
            <a:ext cx="4526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Takeaway: in samādhi, the literal build and the philosophical use point in the same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निरोध  nirodha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2 - where translation choices change the tone of the philosophy.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063240" cy="4526280"/>
          </a:xfrm>
          <a:prstGeom prst="roundRect">
            <a:avLst>
              <a:gd name="adj" fmla="val 2388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8992" y="15544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8992" y="1965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  +  √rudh  +  -a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8992" y="251460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Root: “to hold back, restrain, obstruct”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build: “holding-back” or “stilling”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418795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leans toward restraint or quieting, not simple annihilation.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6227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and common, but can sound final or absolute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1111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captures force, but sounds too violent or repressive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75995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the sense of restraint without implying destruction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5230368"/>
            <a:ext cx="5989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preference is “stilling”: it is philosophically gentler and morphologically closer to √rudh than “destroying” would be.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अभिनिवेश  abhiniveśa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3 - a word whose prefixes almost perform the concept they name.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840480" cy="4343400"/>
          </a:xfrm>
          <a:prstGeom prst="roundRect">
            <a:avLst>
              <a:gd name="adj" fmla="val 1905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0" y="132588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Morphological stack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5880" y="205740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6E9DE"/>
          </a:solidFill>
          <a:ln w="12700">
            <a:solidFill>
              <a:srgbClr val="D7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81328" y="220370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abhi-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40280" y="221284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toward, upon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1325880" y="288036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3F1E8"/>
          </a:solidFill>
          <a:ln w="12700">
            <a:solidFill>
              <a:srgbClr val="D7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81328" y="302666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240280" y="303580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down, into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1325880" y="370332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E8EEF8"/>
          </a:solidFill>
          <a:ln w="12700">
            <a:solidFill>
              <a:srgbClr val="D7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81328" y="384962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√viś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240280" y="385876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enter, settle into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078992" y="4828032"/>
            <a:ext cx="2880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sense: “a settling-into” intensified by two directional prefixes.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85232" y="16642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85232" y="2011680"/>
            <a:ext cx="475488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YS 2.9, abhiniveśa is the fear-driven clinging to life that “flows by its own momentum, even in the wise.”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merely a mistaken idea. It is an embodied tendency - something one sinks into.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morphology unusually expressive: the word itself sounds like layered entry, descent, and entrenchment.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285232" y="457200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13832" y="481888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my strongest “morphology matters” example.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संस्कार  saṃskāra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4 - one word with multiple conceptual lives.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68680" y="1234440"/>
            <a:ext cx="10469880" cy="91440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536192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sam-  +  √kṛ  -&gt;  “a thorough making” or “putting together completely”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51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16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52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consecration, sacrament, refinement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81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saṃskṛta means the “well-made” or refined language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09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74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Sutras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110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impressions that continue to shape perception and 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544068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philosophical payoff is that yoga inherits a word that already implies formedness, shaping, and residue - not a blank mental event.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Concepts Cross Languages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15568" y="3383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second question is not just “what is the translation?” but “what survives the move?”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097280" y="2331720"/>
            <a:ext cx="105156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ध्याण / dhyāna -&gt; 禪 / chán -&gt; zen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clearest transmission case in the project.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51560" y="3337560"/>
            <a:ext cx="9692640" cy="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3154680"/>
            <a:ext cx="320040" cy="320040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dhyāna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Sanskrit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meditative absorption / meditation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2491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97180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8036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7180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jhāna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Pali / Prakrit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86207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 sound shift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3776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transliteration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roughly preserving the sound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5683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0372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81228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0372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0372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abbreviation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9399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becomes the school name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62279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86968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7824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86968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Japanese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75995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transmission from Chinese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3000" y="5577840"/>
            <a:ext cx="9692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case where sound, attestation, and historical continuity all line up cleanly.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अविद्या  avidyā -&gt; 無明  wúmíng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case where faithful translation is still interpretation.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715000" y="141732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8872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side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214884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a-  +  vidyā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“non-knowledge”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Ignorance as a failure of knowing, seeing, or discriminating correctly.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17830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89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無  +  明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89320" y="2651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“without brightness”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shift toward light, obscuration, and phenomenological darkness.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47488" y="1828800"/>
            <a:ext cx="0" cy="347472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828800" y="610819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A74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here is continuity plus reinterpretation.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Words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68680" y="1234440"/>
            <a:ext cx="104698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43000" y="1755648"/>
            <a:ext cx="201168" cy="201168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490472" y="164592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Morphology carries philosophical weight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0472" y="198424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Roots, prefixes, and compounds do not solve interpretation, but they often tell us what kind of interpretation is plausible.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43000" y="2990088"/>
            <a:ext cx="201168" cy="201168"/>
          </a:xfrm>
          <a:prstGeom prst="ellipse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90472" y="288036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never neutral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90472" y="321868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careful renderings shift tone: restraint can become extinction; ignorance can become darkness.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43000" y="4224528"/>
            <a:ext cx="201168" cy="201168"/>
          </a:xfrm>
          <a:prstGeom prst="ellipse">
            <a:avLst/>
          </a:prstGeom>
          <a:solidFill>
            <a:srgbClr val="3E6B5A"/>
          </a:solidFill>
          <a:ln w="12700">
            <a:solidFill>
              <a:srgbClr val="3E6B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90472" y="411480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transmission is real but uneven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90472" y="44531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dhyāna -&gt; zen is rock-solid. Other cases are broader, looser, or instructive precisely because they fail to align neatly.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43000" y="5138928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17320" y="527608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word explorer available after class.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CBB07A-4302-51CB-D020-EFD0F9D8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669A15-7887-D810-6B0E-57871BB8A144}"/>
              </a:ext>
            </a:extLst>
          </p:cNvPr>
          <p:cNvSpPr/>
          <p:nvPr/>
        </p:nvSpPr>
        <p:spPr>
          <a:xfrm>
            <a:off x="10972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2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782CD0-0B4C-0B8E-6543-D76BF7C580FE}"/>
              </a:ext>
            </a:extLst>
          </p:cNvPr>
          <p:cNvSpPr/>
          <p:nvPr/>
        </p:nvSpPr>
        <p:spPr>
          <a:xfrm>
            <a:off x="1115568" y="3383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questions?</a:t>
            </a:r>
            <a:endParaRPr lang="en-US" sz="11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8BF213F-219F-774E-A537-C2613AC28CCA}"/>
              </a:ext>
            </a:extLst>
          </p:cNvPr>
          <p:cNvSpPr/>
          <p:nvPr/>
        </p:nvSpPr>
        <p:spPr>
          <a:xfrm>
            <a:off x="1097280" y="2331720"/>
            <a:ext cx="105156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69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1349</Words>
  <Application>Microsoft Macintosh PowerPoint</Application>
  <PresentationFormat>Widescreen</PresentationFormat>
  <Paragraphs>166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Avenir Next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Sanskrit Words Know</dc:title>
  <dc:subject>Indian Philosophy Final Presentation</dc:subject>
  <dc:creator>Jai Bajaj</dc:creator>
  <cp:lastModifiedBy>Bajaj, Jai</cp:lastModifiedBy>
  <cp:revision>2</cp:revision>
  <dcterms:created xsi:type="dcterms:W3CDTF">2026-04-09T20:02:18Z</dcterms:created>
  <dcterms:modified xsi:type="dcterms:W3CDTF">2026-04-28T14:17:47Z</dcterms:modified>
</cp:coreProperties>
</file>