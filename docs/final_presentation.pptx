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Good morning/afternoon. My project looks at the internal structure of Sanskrit philosophical words — especially from the Yoga Sutras and Buddhist meditation traditions — and asks two questions. First: does the way a Sanskrit word is built tell us something about what it means philosophically? And second: when those concepts traveled to China, what happened to them? I'll walk you through a few case studies that I think show something genuinely interesting about the relationship between language and philosophy.</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The Yoga Sutras are among the most concise texts in Indian philosophy — 196 aphorisms covering a complete theory of mind, suffering, and liberation. That brevity means individual words carry extraordinary weight. My claim is that the internal architecture of these words is not just a linguistic curiosity. It's a window into philosophical meaning. And when we trace some of these words into Chinese Buddhist translation, we can see how translation choices — sound versus meaning, one metaphor versus another — actually changed the philosophy.</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Let me ground this in a sentence most of you already know: Yoga Sutra 1.2, the definition of yoga itself. Here it is in Devanagari and transliteration. This single sentence contains three technical terms — citta, vrtti, nirodha — each built from specific roots and prefixes. By the end of this talk, I want you to hear each of those words differently. Let's start by looking at how the breakdown works.</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Sanskrit words are built by combining a verbal root with prefixes and suffixes. The root carries the core meaning — like a verb in English. Prefixes modify direction or intensity. Suffixes determine whether the word is a noun, an adjective, an action. And compounds join multiple words into complex units. What I found is that when you take a philosophical term apart this way, the literal meaning built from the parts often tells you something precise about what the concept claims. Let me show you.</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Samadhi — the culmination of yogic practice. Built from the root dha, "to place," with two prefixes: sam meaning "together" or "completely," and a meaning "toward." Plus the suffix -i making it an action noun. So literally: a complete placing-together. Philosophically: the state of total meditative absorption where the meditator's awareness merges with its object. Notice what the word is doing — it's not just naming a state, it's describing a process: the gathering and settling of dispersed awareness into unified focus. Quick sidebar: you'll sometimes hear samadhi glossed as "equal placing" from sama plus adhi. That's a folk etymology — the standard dictionaries derive it from the prefixes sam plus a plus the root dha. This is exactly the kind of correction that morphological analysis is good for.</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Nirodha — the operative word in Yoga Sutra 1.2. Built from the prefix ni, which intensifies, plus the root rudh, meaning "to hold back" or "to restrain," plus the suffix -a. So literally: a complete holding-back. Philosophically: the stilling of citta's habitual activity so that pure awareness can emerge. Why does the morphology matter? Because different English translations carry very different philosophical implications. "Cessation" implies something ends. "Suppression" implies force. "Stilling" implies a gentle quieting. The root rudh — "to hold back" — is closer to stilling than to either ending or forcing. Patanjali isn't saying the mind is destroyed. He's saying its habitual activity is held in check. This becomes even more interesting when we get to the Chinese rendering later.</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This is my favorite case for showing why morphology matters. Abhinivesa is the fifth klesa — usually translated as clinging to life or fear of death. It's built from the root vis, "to enter or settle into," with two prefixes stacked on top: abhi meaning "toward" and ni meaning "down into." Three layers of settling: you go toward, you go down, you enter. The morphology physically enacts what the concept describes — consciousness that has settled so deeply into the survival drive that it can't easily extract itself. And Patanjali says something remarkable about it: abhinivesa flows by its own momentum and is firmly established even in the wise. Even someone who intellectually understands that death is nothing to fear still instinctively recoils. This is not an intellectual error. It's what we might today call a hardwired survival instinct. For meditation practice, this names the deepest resistance you'll encounter: the organism's refusal to let go.</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One more Sanskrit case. Samskara — sam plus the root kr, "to make," plus the suffix -a. Literally: a thorough making. Philosophically: the latent impressions — subliminal traces — left in the mind by every experience. This word has three completely different lives depending on context. In ritual, it means consecration — the sacraments of birth, marriage, death. In grammar, it means refinement — the word Sanskrit itself, samskrta, means "well-made." And in the Yoga Sutras, it means the unconscious residue of experience that shapes future perception and behavior without your awareness. This is strikingly close to what modern psychology calls unconscious conditioning. And crucially, Patanjali says that samskaras from samadhi can overwrite samskaras from ordinary experience — which is the mechanism by which practice actually transforms the mind. Not by destroying old patterns, but by laying down new, deeper ones.</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So that's the Sanskrit side — the internal structure of these words carries philosophical weight. Now I want to show you what happens when some of these concepts traveled from India to China. Beginning in the first centuries CE, Chinese translators faced the challenge of rendering Sanskrit philosophical vocabulary in a completely different language. They had two basic strategies: approximate the sound of the Sanskrit word, or translate its meaning using native Chinese words. Each choice shaped how the concept was understood. Let me show you three cases — one strong transmission, one subtle interpretation, and one instructive failure.</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If I could show you only one mapping case, it would be this one. Dhyana — sustained meditation — traveled from Sanskrit to Pali to Chinese to Japanese, and at each stage the pronunciation shifted. Dhyana became jhana in Pali, then channa in Chinese, then the abbreviated chan, then Japanese zen. An entire school of Buddhism takes its name from this single Sanskrit word. What's fascinating is that Chinese translators developed four different renderings. The full transliteration channa. The abbreviation chan. A hybrid, chanding, pairing the foreign sound with a native Chinese word meaning "stability." And Xuanzang's semantic translation jinglu, meaning "quiet contemplation" — a 7th-century attempt to recover the precise meaning. And here's the doctrinal shift: in the Yoga Sutras, dhyana is one specific stage — limb 7 of 8. In Chinese Buddhism, chan expanded until it named an entire orientation toward awakening. The word traveled, but its scope changed dramatically.</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Avidya — non-knowledge — was rendered as wuming, "without brightness." It's a structural calque: wu means "without," matching the Sanskrit prefix a-; ming means "brightness" or "clarity," matching vidya, "knowledge." Almost piece by piece. But the translators made a quiet interpretive choice. They chose brightness instead of knowledge. The Sanskrit image is epistemological — a failure of knowing, a mistake. The Chinese image is phenomenological — an absence of light, a darkness. A practitioner shaped by the Chinese image might experience avidya as darkness to be dispelled — a clearing of vision. A practitioner shaped by the Sanskrit might experience it as a mistake to be corrected — a realignment of understanding. Both are valid. But they orient practice differently. This is what I mean when I say translation is always interpretation — even very faithful translation.</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My last mapping case is a cautionary one. Svarupa in the Yoga Sutras means "own form" — it's what purusa, pure awareness, actually is. Yoga Sutra 1.3 says: when meditation succeeds, the seer abides in its own form. The closest Chinese candidate is zixing, "own nature." Sounds like a reasonable match. But in Chinese Madhyamaka Buddhism, zixing is the thing that nothing has. The central Madhyamaka insight is svabhava-shunyata — emptiness of own-nature. The Yoga Sutras say you find your essential nature. Madhyamaka says you see through the illusion that anything has one. Same philosophical question — does anything have an essential nature? — opposite answers. I include this case because the gap is more instructive than any smooth connection. It shows the limits of mapping, and it shows that these are genuinely different traditions, not one tradition in two languages.</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100">
                <a:latin typeface="Helvetica"/>
              </a:defRPr>
            </a:pPr>
            <a:r>
              <a:t>Three takeaways. First, Sanskrit word-structure carries philosophical weight. When you break samadhi into "a complete placing-together" or abhinivesa into "a deep settling-into," you're not just doing linguistics — you're recovering an argument about what these concepts mean that the original language encodes and English translations flatten. Second, translation is always interpretation. Every Chinese rendering made choices — sound or meaning, darkness or ignorance, extinction or restraint. Those choices shaped how millions of people understood these concepts. Third, cross-cultural transmission is real but partial. The dhyana-to-zen connection is rock-solid. But the Yoga Sutras' specialized vocabulary has no Chinese counterpart at all. These are different traditions sharing a vocabulary, not one tradition in two languages. And sometimes the most instructive case is the failure — the place where the gap between traditions reveals their deepest commitments. Let me end where I started. Yoga Sutra 1.2. After this project, I hear it differently. Citta is not just "mind" — it's "the perceived." Vrtti is not "thoughts" — it's "turnings." Nirodha is not "stopping" — it's "holding back." The words knew what they meant all along. We just had to learn how to listen. Thank you.</a:t>
            </a:r>
          </a:p>
          <a:p>
            <a:pPr>
              <a:defRPr sz="1100">
                <a:latin typeface="Helvetica"/>
              </a:defRPr>
            </a:pP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lgn="l">
              <a:defRPr sz="3600" b="1">
                <a:solidFill>
                  <a:srgbClr val="1A1A2E"/>
                </a:solidFill>
                <a:latin typeface="Helvetica"/>
              </a:defRPr>
            </a:pPr>
            <a:r>
              <a:t>What Sanskrit Words Know</a:t>
            </a:r>
          </a:p>
        </p:txBody>
      </p:sp>
      <p:sp>
        <p:nvSpPr>
          <p:cNvPr id="3" name="TextBox 2"/>
          <p:cNvSpPr txBox="1"/>
          <p:nvPr/>
        </p:nvSpPr>
        <p:spPr>
          <a:xfrm>
            <a:off x="731520" y="3291840"/>
            <a:ext cx="7680960" cy="914400"/>
          </a:xfrm>
          <a:prstGeom prst="rect">
            <a:avLst/>
          </a:prstGeom>
          <a:noFill/>
        </p:spPr>
        <p:txBody>
          <a:bodyPr wrap="square">
            <a:spAutoFit/>
          </a:bodyPr>
          <a:lstStyle/>
          <a:p>
            <a:pPr algn="l">
              <a:defRPr sz="1800" b="0">
                <a:solidFill>
                  <a:srgbClr val="2C3E50"/>
                </a:solidFill>
                <a:latin typeface="Helvetica"/>
              </a:defRPr>
            </a:pPr>
            <a:r>
              <a:t>Morphology, Meditation, and the Journey from India to China</a:t>
            </a:r>
          </a:p>
        </p:txBody>
      </p:sp>
      <p:sp>
        <p:nvSpPr>
          <p:cNvPr id="4" name="Rectangle 3"/>
          <p:cNvSpPr/>
          <p:nvPr/>
        </p:nvSpPr>
        <p:spPr>
          <a:xfrm>
            <a:off x="731520" y="3108960"/>
            <a:ext cx="1828800" cy="381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The Core Claim</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4572000"/>
          </a:xfrm>
          <a:prstGeom prst="rect">
            <a:avLst/>
          </a:prstGeom>
          <a:noFill/>
        </p:spPr>
        <p:txBody>
          <a:bodyPr wrap="square">
            <a:spAutoFit/>
          </a:bodyPr>
          <a:lstStyle/>
          <a:p>
            <a:pPr>
              <a:spcAft>
                <a:spcPts val="800"/>
              </a:spcAft>
              <a:defRPr sz="1800">
                <a:solidFill>
                  <a:srgbClr val="2C3E50"/>
                </a:solidFill>
                <a:latin typeface="Helvetica"/>
              </a:defRPr>
            </a:pPr>
            <a:r>
              <a:t>Sanskrit philosophical terms are not arbitrary labels</a:t>
            </a:r>
          </a:p>
          <a:p>
            <a:pPr>
              <a:spcAft>
                <a:spcPts val="800"/>
              </a:spcAft>
              <a:defRPr sz="1800">
                <a:solidFill>
                  <a:srgbClr val="2C3E50"/>
                </a:solidFill>
                <a:latin typeface="Helvetica"/>
              </a:defRPr>
            </a:pPr>
            <a:r>
              <a:t>Their internal structure — roots, prefixes, suffixes — encodes substantive claims about what concepts mean</a:t>
            </a:r>
          </a:p>
          <a:p>
            <a:pPr>
              <a:spcAft>
                <a:spcPts val="800"/>
              </a:spcAft>
              <a:defRPr sz="1800">
                <a:solidFill>
                  <a:srgbClr val="2C3E50"/>
                </a:solidFill>
                <a:latin typeface="Helvetica"/>
              </a:defRPr>
            </a:pPr>
            <a:r>
              <a:t>This matters especially in the Yoga Sutras, where every word carries extraordinary weight</a:t>
            </a:r>
          </a:p>
          <a:p>
            <a:pPr>
              <a:spcAft>
                <a:spcPts val="800"/>
              </a:spcAft>
              <a:defRPr sz="1800">
                <a:solidFill>
                  <a:srgbClr val="2C3E50"/>
                </a:solidFill>
                <a:latin typeface="Helvetica"/>
              </a:defRPr>
            </a:pPr>
            <a:r>
              <a:t>When these concepts crossed into Chinese, translation choices reshaped philosophy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The Defining Sutra</a:t>
            </a:r>
          </a:p>
        </p:txBody>
      </p:sp>
      <p:sp>
        <p:nvSpPr>
          <p:cNvPr id="3" name="TextBox 2"/>
          <p:cNvSpPr txBox="1"/>
          <p:nvPr/>
        </p:nvSpPr>
        <p:spPr>
          <a:xfrm>
            <a:off x="1371600" y="2011680"/>
            <a:ext cx="6400800" cy="2286000"/>
          </a:xfrm>
          <a:prstGeom prst="rect">
            <a:avLst/>
          </a:prstGeom>
          <a:noFill/>
        </p:spPr>
        <p:txBody>
          <a:bodyPr wrap="square">
            <a:spAutoFit/>
          </a:bodyPr>
          <a:lstStyle/>
          <a:p>
            <a:pPr algn="ctr">
              <a:defRPr sz="2200" i="1">
                <a:solidFill>
                  <a:srgbClr val="1A1A2E"/>
                </a:solidFill>
                <a:latin typeface="Helvetica"/>
              </a:defRPr>
            </a:pPr>
            <a:r>
              <a:t>योगश्चित्तवृत्तिनिरोधः    yogas citta-vrtti-nirodhah</a:t>
            </a:r>
          </a:p>
        </p:txBody>
      </p:sp>
      <p:sp>
        <p:nvSpPr>
          <p:cNvPr id="4" name="TextBox 3"/>
          <p:cNvSpPr txBox="1"/>
          <p:nvPr/>
        </p:nvSpPr>
        <p:spPr>
          <a:xfrm>
            <a:off x="1371600" y="4389120"/>
            <a:ext cx="6400800" cy="457200"/>
          </a:xfrm>
          <a:prstGeom prst="rect">
            <a:avLst/>
          </a:prstGeom>
          <a:noFill/>
        </p:spPr>
        <p:txBody>
          <a:bodyPr wrap="square">
            <a:spAutoFit/>
          </a:bodyPr>
          <a:lstStyle/>
          <a:p>
            <a:pPr algn="ctr">
              <a:defRPr sz="1400" b="0">
                <a:solidFill>
                  <a:srgbClr val="8B1A1A"/>
                </a:solidFill>
                <a:latin typeface="Helvetica"/>
              </a:defRPr>
            </a:pPr>
            <a:r>
              <a:t>Yoga Sutra 1.2 — "Yoga is the stilling of the turnings of the mind"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How Sanskrit Word-Building Works</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4572000"/>
          </a:xfrm>
          <a:prstGeom prst="rect">
            <a:avLst/>
          </a:prstGeom>
          <a:noFill/>
        </p:spPr>
        <p:txBody>
          <a:bodyPr wrap="square">
            <a:spAutoFit/>
          </a:bodyPr>
          <a:lstStyle/>
          <a:p>
            <a:pPr>
              <a:spcAft>
                <a:spcPts val="800"/>
              </a:spcAft>
              <a:defRPr sz="1800">
                <a:solidFill>
                  <a:srgbClr val="2C3E50"/>
                </a:solidFill>
                <a:latin typeface="Helvetica"/>
              </a:defRPr>
            </a:pPr>
            <a:r>
              <a:t>Root (dhatu): the core verb that carries primary meaning</a:t>
            </a:r>
          </a:p>
          <a:p>
            <a:pPr>
              <a:spcAft>
                <a:spcPts val="800"/>
              </a:spcAft>
              <a:defRPr sz="1800">
                <a:solidFill>
                  <a:srgbClr val="2C3E50"/>
                </a:solidFill>
                <a:latin typeface="Helvetica"/>
              </a:defRPr>
            </a:pPr>
            <a:r>
              <a:t>Prefixes (upasarga): particles that modify direction or intensity</a:t>
            </a:r>
          </a:p>
          <a:p>
            <a:pPr>
              <a:spcAft>
                <a:spcPts val="800"/>
              </a:spcAft>
              <a:defRPr sz="1800">
                <a:solidFill>
                  <a:srgbClr val="2C3E50"/>
                </a:solidFill>
                <a:latin typeface="Helvetica"/>
              </a:defRPr>
            </a:pPr>
            <a:r>
              <a:t>Suffixes (pratyaya): endings that determine grammatical category</a:t>
            </a:r>
          </a:p>
          <a:p>
            <a:pPr>
              <a:spcAft>
                <a:spcPts val="800"/>
              </a:spcAft>
              <a:defRPr sz="1800">
                <a:solidFill>
                  <a:srgbClr val="2C3E50"/>
                </a:solidFill>
                <a:latin typeface="Helvetica"/>
              </a:defRPr>
            </a:pPr>
            <a:r>
              <a:t>Compound structure: how multiple words join into one</a:t>
            </a:r>
          </a:p>
          <a:p>
            <a:pPr>
              <a:spcAft>
                <a:spcPts val="800"/>
              </a:spcAft>
              <a:defRPr sz="1800">
                <a:solidFill>
                  <a:srgbClr val="2C3E50"/>
                </a:solidFill>
                <a:latin typeface="Helvetica"/>
              </a:defRPr>
            </a:pPr>
            <a:r>
              <a:t>The literal meaning built from parts often illuminates the philosophical meaning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समाधि samadhi — Meditative Absorption</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Root: √dha — "to place, put"</a:t>
            </a:r>
          </a:p>
          <a:p>
            <a:pPr>
              <a:spcAft>
                <a:spcPts val="800"/>
              </a:spcAft>
              <a:defRPr sz="1600">
                <a:solidFill>
                  <a:srgbClr val="2C3E50"/>
                </a:solidFill>
                <a:latin typeface="Helvetica"/>
              </a:defRPr>
            </a:pPr>
            <a:r>
              <a:t>Prefixes: sam- ("together") + a- ("toward")</a:t>
            </a:r>
          </a:p>
          <a:p>
            <a:pPr>
              <a:spcAft>
                <a:spcPts val="800"/>
              </a:spcAft>
              <a:defRPr sz="1600">
                <a:solidFill>
                  <a:srgbClr val="2C3E50"/>
                </a:solidFill>
                <a:latin typeface="Helvetica"/>
              </a:defRPr>
            </a:pPr>
            <a:r>
              <a:t>Suffix: -i (action noun)</a:t>
            </a:r>
          </a:p>
          <a:p>
            <a:pPr>
              <a:spcAft>
                <a:spcPts val="800"/>
              </a:spcAft>
              <a:defRPr sz="1600">
                <a:solidFill>
                  <a:srgbClr val="2C3E50"/>
                </a:solidFill>
                <a:latin typeface="Helvetica"/>
              </a:defRPr>
            </a:pPr>
            <a:r>
              <a:t>Literal: "a complete placing-together"</a:t>
            </a:r>
          </a:p>
          <a:p>
            <a:pPr>
              <a:spcAft>
                <a:spcPts val="800"/>
              </a:spcAft>
              <a:defRPr sz="1600">
                <a:solidFill>
                  <a:srgbClr val="2C3E50"/>
                </a:solidFill>
                <a:latin typeface="Helvetica"/>
              </a:defRPr>
            </a:pPr>
            <a:r>
              <a:t>Philosophical: total absorption of awareness into its object</a:t>
            </a:r>
          </a:p>
        </p:txBody>
      </p:sp>
      <p:sp>
        <p:nvSpPr>
          <p:cNvPr id="5" name="TextBox 4"/>
          <p:cNvSpPr txBox="1"/>
          <p:nvPr/>
        </p:nvSpPr>
        <p:spPr>
          <a:xfrm>
            <a:off x="475488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The word's architecture argues for its meaning</a:t>
            </a:r>
          </a:p>
          <a:p>
            <a:pPr>
              <a:spcAft>
                <a:spcPts val="800"/>
              </a:spcAft>
              <a:defRPr sz="1600">
                <a:solidFill>
                  <a:srgbClr val="2C3E50"/>
                </a:solidFill>
                <a:latin typeface="Helvetica"/>
              </a:defRPr>
            </a:pPr>
            <a:r>
              <a:t>"Placing-together" is not a metaphor added later — it is built into the word</a:t>
            </a:r>
          </a:p>
          <a:p>
            <a:pPr>
              <a:spcAft>
                <a:spcPts val="800"/>
              </a:spcAft>
              <a:defRPr sz="1600">
                <a:solidFill>
                  <a:srgbClr val="2C3E50"/>
                </a:solidFill>
                <a:latin typeface="Helvetica"/>
              </a:defRPr>
            </a:pPr>
            <a:r>
              <a:t>Common folk etymology sama + adhi ("equal placing") is not supported by standard grammar</a:t>
            </a:r>
          </a:p>
          <a:p>
            <a:pPr>
              <a:spcAft>
                <a:spcPts val="800"/>
              </a:spcAft>
              <a:defRPr sz="1600">
                <a:solidFill>
                  <a:srgbClr val="2C3E50"/>
                </a:solidFill>
                <a:latin typeface="Helvetica"/>
              </a:defRPr>
            </a:pPr>
            <a:r>
              <a:t>Standard derivation: sam + a + √dha (Monier-Williams)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निरोध nirodha — Cessation or Stilling</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Root: √rudh — "to hold back, restrain"</a:t>
            </a:r>
          </a:p>
          <a:p>
            <a:pPr>
              <a:spcAft>
                <a:spcPts val="800"/>
              </a:spcAft>
              <a:defRPr sz="1600">
                <a:solidFill>
                  <a:srgbClr val="2C3E50"/>
                </a:solidFill>
                <a:latin typeface="Helvetica"/>
              </a:defRPr>
            </a:pPr>
            <a:r>
              <a:t>Prefix: ni- (intensifying)</a:t>
            </a:r>
          </a:p>
          <a:p>
            <a:pPr>
              <a:spcAft>
                <a:spcPts val="800"/>
              </a:spcAft>
              <a:defRPr sz="1600">
                <a:solidFill>
                  <a:srgbClr val="2C3E50"/>
                </a:solidFill>
                <a:latin typeface="Helvetica"/>
              </a:defRPr>
            </a:pPr>
            <a:r>
              <a:t>Suffix: -a (action noun)</a:t>
            </a:r>
          </a:p>
          <a:p>
            <a:pPr>
              <a:spcAft>
                <a:spcPts val="800"/>
              </a:spcAft>
              <a:defRPr sz="1600">
                <a:solidFill>
                  <a:srgbClr val="2C3E50"/>
                </a:solidFill>
                <a:latin typeface="Helvetica"/>
              </a:defRPr>
            </a:pPr>
            <a:r>
              <a:t>Literal: "a complete holding-back"</a:t>
            </a:r>
          </a:p>
          <a:p>
            <a:pPr>
              <a:spcAft>
                <a:spcPts val="800"/>
              </a:spcAft>
              <a:defRPr sz="1600">
                <a:solidFill>
                  <a:srgbClr val="2C3E50"/>
                </a:solidFill>
                <a:latin typeface="Helvetica"/>
              </a:defRPr>
            </a:pPr>
            <a:r>
              <a:t>Philosophical: the stilling of mental activity</a:t>
            </a:r>
          </a:p>
        </p:txBody>
      </p:sp>
      <p:sp>
        <p:nvSpPr>
          <p:cNvPr id="5" name="TextBox 4"/>
          <p:cNvSpPr txBox="1"/>
          <p:nvPr/>
        </p:nvSpPr>
        <p:spPr>
          <a:xfrm>
            <a:off x="475488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English translations carry different weight:</a:t>
            </a:r>
          </a:p>
          <a:p>
            <a:pPr>
              <a:spcAft>
                <a:spcPts val="800"/>
              </a:spcAft>
              <a:defRPr sz="1600">
                <a:solidFill>
                  <a:srgbClr val="2C3E50"/>
                </a:solidFill>
                <a:latin typeface="Helvetica"/>
              </a:defRPr>
            </a:pPr>
            <a:r>
              <a:t>"Cessation" — implies ending</a:t>
            </a:r>
          </a:p>
          <a:p>
            <a:pPr>
              <a:spcAft>
                <a:spcPts val="800"/>
              </a:spcAft>
              <a:defRPr sz="1600">
                <a:solidFill>
                  <a:srgbClr val="2C3E50"/>
                </a:solidFill>
                <a:latin typeface="Helvetica"/>
              </a:defRPr>
            </a:pPr>
            <a:r>
              <a:t>"Suppression" — implies force</a:t>
            </a:r>
          </a:p>
          <a:p>
            <a:pPr>
              <a:spcAft>
                <a:spcPts val="800"/>
              </a:spcAft>
              <a:defRPr sz="1600">
                <a:solidFill>
                  <a:srgbClr val="2C3E50"/>
                </a:solidFill>
                <a:latin typeface="Helvetica"/>
              </a:defRPr>
            </a:pPr>
            <a:r>
              <a:t>"Stilling" — implies quieting</a:t>
            </a:r>
          </a:p>
          <a:p>
            <a:pPr>
              <a:spcAft>
                <a:spcPts val="800"/>
              </a:spcAft>
              <a:defRPr sz="1600">
                <a:solidFill>
                  <a:srgbClr val="2C3E50"/>
                </a:solidFill>
                <a:latin typeface="Helvetica"/>
              </a:defRPr>
            </a:pPr>
            <a:r>
              <a:t>The root √rudh favors "stilling" over "destroying"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abhinivesa — Clinging to Existence</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Root: √vis — "to enter, settle into"</a:t>
            </a:r>
          </a:p>
          <a:p>
            <a:pPr>
              <a:spcAft>
                <a:spcPts val="800"/>
              </a:spcAft>
              <a:defRPr sz="1600">
                <a:solidFill>
                  <a:srgbClr val="2C3E50"/>
                </a:solidFill>
                <a:latin typeface="Helvetica"/>
              </a:defRPr>
            </a:pPr>
            <a:r>
              <a:t>Prefix: abhi- ("toward, upon")</a:t>
            </a:r>
          </a:p>
          <a:p>
            <a:pPr>
              <a:spcAft>
                <a:spcPts val="800"/>
              </a:spcAft>
              <a:defRPr sz="1600">
                <a:solidFill>
                  <a:srgbClr val="2C3E50"/>
                </a:solidFill>
                <a:latin typeface="Helvetica"/>
              </a:defRPr>
            </a:pPr>
            <a:r>
              <a:t>Prefix: ni- ("down, into")</a:t>
            </a:r>
          </a:p>
          <a:p>
            <a:pPr>
              <a:spcAft>
                <a:spcPts val="800"/>
              </a:spcAft>
              <a:defRPr sz="1600">
                <a:solidFill>
                  <a:srgbClr val="2C3E50"/>
                </a:solidFill>
                <a:latin typeface="Helvetica"/>
              </a:defRPr>
            </a:pPr>
            <a:r>
              <a:t>Literal: "a deep settling-into"</a:t>
            </a:r>
          </a:p>
          <a:p>
            <a:pPr>
              <a:spcAft>
                <a:spcPts val="800"/>
              </a:spcAft>
              <a:defRPr sz="1600">
                <a:solidFill>
                  <a:srgbClr val="2C3E50"/>
                </a:solidFill>
                <a:latin typeface="Helvetica"/>
              </a:defRPr>
            </a:pPr>
            <a:r>
              <a:t>Three layers of settling deeper</a:t>
            </a:r>
          </a:p>
        </p:txBody>
      </p:sp>
      <p:sp>
        <p:nvSpPr>
          <p:cNvPr id="5" name="TextBox 4"/>
          <p:cNvSpPr txBox="1"/>
          <p:nvPr/>
        </p:nvSpPr>
        <p:spPr>
          <a:xfrm>
            <a:off x="475488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The fifth klesa (affliction)</a:t>
            </a:r>
          </a:p>
          <a:p>
            <a:pPr>
              <a:spcAft>
                <a:spcPts val="800"/>
              </a:spcAft>
              <a:defRPr sz="1600">
                <a:solidFill>
                  <a:srgbClr val="2C3E50"/>
                </a:solidFill>
                <a:latin typeface="Helvetica"/>
              </a:defRPr>
            </a:pPr>
            <a:r>
              <a:t>"Flows by its own momentum, even in the wise" (YS 2.9)</a:t>
            </a:r>
          </a:p>
          <a:p>
            <a:pPr>
              <a:spcAft>
                <a:spcPts val="800"/>
              </a:spcAft>
              <a:defRPr sz="1600">
                <a:solidFill>
                  <a:srgbClr val="2C3E50"/>
                </a:solidFill>
                <a:latin typeface="Helvetica"/>
              </a:defRPr>
            </a:pPr>
            <a:r>
              <a:t>Not an intellectual error — an embodied survival drive</a:t>
            </a:r>
          </a:p>
          <a:p>
            <a:pPr>
              <a:spcAft>
                <a:spcPts val="800"/>
              </a:spcAft>
              <a:defRPr sz="1600">
                <a:solidFill>
                  <a:srgbClr val="2C3E50"/>
                </a:solidFill>
                <a:latin typeface="Helvetica"/>
              </a:defRPr>
            </a:pPr>
            <a:r>
              <a:t>The morphology physically enacts the concept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samskara — Latent Impressions</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4572000"/>
          </a:xfrm>
          <a:prstGeom prst="rect">
            <a:avLst/>
          </a:prstGeom>
          <a:noFill/>
        </p:spPr>
        <p:txBody>
          <a:bodyPr wrap="square">
            <a:spAutoFit/>
          </a:bodyPr>
          <a:lstStyle/>
          <a:p>
            <a:pPr>
              <a:spcAft>
                <a:spcPts val="800"/>
              </a:spcAft>
              <a:defRPr sz="1800">
                <a:solidFill>
                  <a:srgbClr val="2C3E50"/>
                </a:solidFill>
                <a:latin typeface="Helvetica"/>
              </a:defRPr>
            </a:pPr>
            <a:r>
              <a:t>Root: √kr — "to do, make"    Prefix: sam- ("completely")</a:t>
            </a:r>
          </a:p>
          <a:p>
            <a:pPr>
              <a:spcAft>
                <a:spcPts val="800"/>
              </a:spcAft>
              <a:defRPr sz="1800">
                <a:solidFill>
                  <a:srgbClr val="2C3E50"/>
                </a:solidFill>
                <a:latin typeface="Helvetica"/>
              </a:defRPr>
            </a:pPr>
            <a:r>
              <a:t>Literal: "a thorough making"     Philosophical: accumulated subliminal traces</a:t>
            </a:r>
          </a:p>
          <a:p>
            <a:pPr>
              <a:spcAft>
                <a:spcPts val="800"/>
              </a:spcAft>
              <a:defRPr sz="1800">
                <a:solidFill>
                  <a:srgbClr val="2C3E50"/>
                </a:solidFill>
                <a:latin typeface="Helvetica"/>
              </a:defRPr>
            </a:pPr>
            <a:r>
              <a:t>Three lives of one word:</a:t>
            </a:r>
          </a:p>
          <a:p>
            <a:pPr>
              <a:spcAft>
                <a:spcPts val="800"/>
              </a:spcAft>
              <a:defRPr sz="1800">
                <a:solidFill>
                  <a:srgbClr val="2C3E50"/>
                </a:solidFill>
                <a:latin typeface="Helvetica"/>
              </a:defRPr>
            </a:pPr>
            <a:r>
              <a:t>Ritual: consecration, sacrament (the samskaras of life)</a:t>
            </a:r>
          </a:p>
          <a:p>
            <a:pPr>
              <a:spcAft>
                <a:spcPts val="800"/>
              </a:spcAft>
              <a:defRPr sz="1800">
                <a:solidFill>
                  <a:srgbClr val="2C3E50"/>
                </a:solidFill>
                <a:latin typeface="Helvetica"/>
              </a:defRPr>
            </a:pPr>
            <a:r>
              <a:t>Grammar: refinement (samskrta = "Sanskrit" = the "well-made" language)</a:t>
            </a:r>
          </a:p>
          <a:p>
            <a:pPr>
              <a:spcAft>
                <a:spcPts val="800"/>
              </a:spcAft>
              <a:defRPr sz="1800">
                <a:solidFill>
                  <a:srgbClr val="2C3E50"/>
                </a:solidFill>
                <a:latin typeface="Helvetica"/>
              </a:defRPr>
            </a:pPr>
            <a:r>
              <a:t>Yoga Sutras: latent impressions — the unconscious residue of experience</a:t>
            </a:r>
          </a:p>
          <a:p>
            <a:pPr>
              <a:spcAft>
                <a:spcPts val="800"/>
              </a:spcAft>
              <a:defRPr sz="1800">
                <a:solidFill>
                  <a:srgbClr val="2C3E50"/>
                </a:solidFill>
                <a:latin typeface="Helvetica"/>
              </a:defRPr>
            </a:pPr>
            <a:r>
              <a:t>Samskaras from samadhi can overwrite samskaras from ordinary experience (YS 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731520" y="2286000"/>
            <a:ext cx="7680960" cy="1828800"/>
          </a:xfrm>
          <a:prstGeom prst="rect">
            <a:avLst/>
          </a:prstGeom>
          <a:noFill/>
        </p:spPr>
        <p:txBody>
          <a:bodyPr wrap="square">
            <a:spAutoFit/>
          </a:bodyPr>
          <a:lstStyle/>
          <a:p>
            <a:pPr algn="l">
              <a:defRPr sz="3200" b="1">
                <a:solidFill>
                  <a:srgbClr val="FFFFFF"/>
                </a:solidFill>
                <a:latin typeface="Helvetica"/>
              </a:defRPr>
            </a:pPr>
            <a:r>
              <a:t>When Concepts Cross Languages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dhyana to chan to zen</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The phonetic chain:</a:t>
            </a:r>
          </a:p>
          <a:p>
            <a:pPr>
              <a:spcAft>
                <a:spcPts val="800"/>
              </a:spcAft>
              <a:defRPr sz="1600">
                <a:solidFill>
                  <a:srgbClr val="2C3E50"/>
                </a:solidFill>
                <a:latin typeface="Helvetica"/>
              </a:defRPr>
            </a:pPr>
            <a:r>
              <a:t>dhyana (Sanskrit)</a:t>
            </a:r>
          </a:p>
          <a:p>
            <a:pPr>
              <a:spcAft>
                <a:spcPts val="800"/>
              </a:spcAft>
              <a:defRPr sz="1600">
                <a:solidFill>
                  <a:srgbClr val="2C3E50"/>
                </a:solidFill>
                <a:latin typeface="Helvetica"/>
              </a:defRPr>
            </a:pPr>
            <a:r>
              <a:t>jhana (Pali/Prakrit)</a:t>
            </a:r>
          </a:p>
          <a:p>
            <a:pPr>
              <a:spcAft>
                <a:spcPts val="800"/>
              </a:spcAft>
              <a:defRPr sz="1600">
                <a:solidFill>
                  <a:srgbClr val="2C3E50"/>
                </a:solidFill>
                <a:latin typeface="Helvetica"/>
              </a:defRPr>
            </a:pPr>
            <a:r>
              <a:t>channa / 禪那 (Chinese)</a:t>
            </a:r>
          </a:p>
          <a:p>
            <a:pPr>
              <a:spcAft>
                <a:spcPts val="800"/>
              </a:spcAft>
              <a:defRPr sz="1600">
                <a:solidFill>
                  <a:srgbClr val="2C3E50"/>
                </a:solidFill>
                <a:latin typeface="Helvetica"/>
              </a:defRPr>
            </a:pPr>
            <a:r>
              <a:t>chan / 禪 (abbreviated)</a:t>
            </a:r>
          </a:p>
          <a:p>
            <a:pPr>
              <a:spcAft>
                <a:spcPts val="800"/>
              </a:spcAft>
              <a:defRPr sz="1600">
                <a:solidFill>
                  <a:srgbClr val="2C3E50"/>
                </a:solidFill>
                <a:latin typeface="Helvetica"/>
              </a:defRPr>
            </a:pPr>
            <a:r>
              <a:t>zen / 禅 (Japanese)</a:t>
            </a:r>
          </a:p>
        </p:txBody>
      </p:sp>
      <p:sp>
        <p:nvSpPr>
          <p:cNvPr id="5" name="TextBox 4"/>
          <p:cNvSpPr txBox="1"/>
          <p:nvPr/>
        </p:nvSpPr>
        <p:spPr>
          <a:xfrm>
            <a:off x="475488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Four Chinese renderings:</a:t>
            </a:r>
          </a:p>
          <a:p>
            <a:pPr>
              <a:spcAft>
                <a:spcPts val="800"/>
              </a:spcAft>
              <a:defRPr sz="1600">
                <a:solidFill>
                  <a:srgbClr val="2C3E50"/>
                </a:solidFill>
                <a:latin typeface="Helvetica"/>
              </a:defRPr>
            </a:pPr>
            <a:r>
              <a:t>禪那 channa — full transliteration</a:t>
            </a:r>
          </a:p>
          <a:p>
            <a:pPr>
              <a:spcAft>
                <a:spcPts val="800"/>
              </a:spcAft>
              <a:defRPr sz="1600">
                <a:solidFill>
                  <a:srgbClr val="2C3E50"/>
                </a:solidFill>
                <a:latin typeface="Helvetica"/>
              </a:defRPr>
            </a:pPr>
            <a:r>
              <a:t>禪 chan — abbreviation (became school name)</a:t>
            </a:r>
          </a:p>
          <a:p>
            <a:pPr>
              <a:spcAft>
                <a:spcPts val="800"/>
              </a:spcAft>
              <a:defRPr sz="1600">
                <a:solidFill>
                  <a:srgbClr val="2C3E50"/>
                </a:solidFill>
                <a:latin typeface="Helvetica"/>
              </a:defRPr>
            </a:pPr>
            <a:r>
              <a:t>禪定 chanding — hybrid (sound + meaning)</a:t>
            </a:r>
          </a:p>
          <a:p>
            <a:pPr>
              <a:spcAft>
                <a:spcPts val="800"/>
              </a:spcAft>
              <a:defRPr sz="1600">
                <a:solidFill>
                  <a:srgbClr val="2C3E50"/>
                </a:solidFill>
                <a:latin typeface="Helvetica"/>
              </a:defRPr>
            </a:pPr>
            <a:r>
              <a:t>靜慮 jinglu — Xuanzang's semantic: "quiet contemplation"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अविद्या avidya to 無明 wuming</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Sanskrit: a- ("not") + vidya ("knowledge")</a:t>
            </a:r>
          </a:p>
          <a:p>
            <a:pPr>
              <a:spcAft>
                <a:spcPts val="800"/>
              </a:spcAft>
              <a:defRPr sz="1600">
                <a:solidFill>
                  <a:srgbClr val="2C3E50"/>
                </a:solidFill>
                <a:latin typeface="Helvetica"/>
              </a:defRPr>
            </a:pPr>
            <a:r>
              <a:t>= "non-knowledge"</a:t>
            </a:r>
          </a:p>
          <a:p>
            <a:pPr>
              <a:spcAft>
                <a:spcPts val="800"/>
              </a:spcAft>
              <a:defRPr sz="1600">
                <a:solidFill>
                  <a:srgbClr val="2C3E50"/>
                </a:solidFill>
                <a:latin typeface="Helvetica"/>
              </a:defRPr>
            </a:pPr>
            <a:r>
              <a:t>Chinese: 無 ("without") + 明 ("brightness")</a:t>
            </a:r>
          </a:p>
          <a:p>
            <a:pPr>
              <a:spcAft>
                <a:spcPts val="800"/>
              </a:spcAft>
              <a:defRPr sz="1600">
                <a:solidFill>
                  <a:srgbClr val="2C3E50"/>
                </a:solidFill>
                <a:latin typeface="Helvetica"/>
              </a:defRPr>
            </a:pPr>
            <a:r>
              <a:t>= 無明 wuming = "without brightness"</a:t>
            </a:r>
          </a:p>
          <a:p>
            <a:pPr>
              <a:spcAft>
                <a:spcPts val="800"/>
              </a:spcAft>
              <a:defRPr sz="1600">
                <a:solidFill>
                  <a:srgbClr val="2C3E50"/>
                </a:solidFill>
                <a:latin typeface="Helvetica"/>
              </a:defRPr>
            </a:pPr>
            <a:r>
              <a:t>A morphological mirror — almost piece by piece</a:t>
            </a:r>
          </a:p>
        </p:txBody>
      </p:sp>
      <p:sp>
        <p:nvSpPr>
          <p:cNvPr id="5" name="TextBox 4"/>
          <p:cNvSpPr txBox="1"/>
          <p:nvPr/>
        </p:nvSpPr>
        <p:spPr>
          <a:xfrm>
            <a:off x="475488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The translators chose "brightness" over "knowledge"</a:t>
            </a:r>
          </a:p>
          <a:p>
            <a:pPr>
              <a:spcAft>
                <a:spcPts val="800"/>
              </a:spcAft>
              <a:defRPr sz="1600">
                <a:solidFill>
                  <a:srgbClr val="2C3E50"/>
                </a:solidFill>
                <a:latin typeface="Helvetica"/>
              </a:defRPr>
            </a:pPr>
            <a:r>
              <a:t>Sanskrit image: epistemological — a failure of knowing</a:t>
            </a:r>
          </a:p>
          <a:p>
            <a:pPr>
              <a:spcAft>
                <a:spcPts val="800"/>
              </a:spcAft>
              <a:defRPr sz="1600">
                <a:solidFill>
                  <a:srgbClr val="2C3E50"/>
                </a:solidFill>
                <a:latin typeface="Helvetica"/>
              </a:defRPr>
            </a:pPr>
            <a:r>
              <a:t>Chinese image: phenomenological — an absence of light</a:t>
            </a:r>
          </a:p>
          <a:p>
            <a:pPr>
              <a:spcAft>
                <a:spcPts val="800"/>
              </a:spcAft>
              <a:defRPr sz="1600">
                <a:solidFill>
                  <a:srgbClr val="2C3E50"/>
                </a:solidFill>
                <a:latin typeface="Helvetica"/>
              </a:defRPr>
            </a:pPr>
            <a:r>
              <a:t>Small shift, real consequences for practice</a:t>
            </a:r>
          </a:p>
          <a:p>
            <a:pPr>
              <a:spcAft>
                <a:spcPts val="800"/>
              </a:spcAft>
              <a:defRPr sz="1600">
                <a:solidFill>
                  <a:srgbClr val="2C3E50"/>
                </a:solidFill>
                <a:latin typeface="Helvetica"/>
              </a:defRPr>
            </a:pPr>
            <a:r>
              <a:t>Even faithful translation is interpretation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svarupa vs. 自性 zixing — When the Gap Is the Finding</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Yoga Sutras: svarupa = "own form"</a:t>
            </a:r>
          </a:p>
          <a:p>
            <a:pPr>
              <a:spcAft>
                <a:spcPts val="800"/>
              </a:spcAft>
              <a:defRPr sz="1600">
                <a:solidFill>
                  <a:srgbClr val="2C3E50"/>
                </a:solidFill>
                <a:latin typeface="Helvetica"/>
              </a:defRPr>
            </a:pPr>
            <a:r>
              <a:t>YS 1.3: "The seer abides in its own form"</a:t>
            </a:r>
          </a:p>
          <a:p>
            <a:pPr>
              <a:spcAft>
                <a:spcPts val="800"/>
              </a:spcAft>
              <a:defRPr sz="1600">
                <a:solidFill>
                  <a:srgbClr val="2C3E50"/>
                </a:solidFill>
                <a:latin typeface="Helvetica"/>
              </a:defRPr>
            </a:pPr>
            <a:r>
              <a:t>Purusa has a real essential nature</a:t>
            </a:r>
          </a:p>
          <a:p>
            <a:pPr>
              <a:spcAft>
                <a:spcPts val="800"/>
              </a:spcAft>
              <a:defRPr sz="1600">
                <a:solidFill>
                  <a:srgbClr val="2C3E50"/>
                </a:solidFill>
                <a:latin typeface="Helvetica"/>
              </a:defRPr>
            </a:pPr>
            <a:r>
              <a:t>Meditation reveals it</a:t>
            </a:r>
          </a:p>
        </p:txBody>
      </p:sp>
      <p:sp>
        <p:nvSpPr>
          <p:cNvPr id="5" name="TextBox 4"/>
          <p:cNvSpPr txBox="1"/>
          <p:nvPr/>
        </p:nvSpPr>
        <p:spPr>
          <a:xfrm>
            <a:off x="4754880" y="1463040"/>
            <a:ext cx="3657600" cy="4572000"/>
          </a:xfrm>
          <a:prstGeom prst="rect">
            <a:avLst/>
          </a:prstGeom>
          <a:noFill/>
        </p:spPr>
        <p:txBody>
          <a:bodyPr wrap="square">
            <a:spAutoFit/>
          </a:bodyPr>
          <a:lstStyle/>
          <a:p>
            <a:pPr>
              <a:spcAft>
                <a:spcPts val="800"/>
              </a:spcAft>
              <a:defRPr sz="1600">
                <a:solidFill>
                  <a:srgbClr val="2C3E50"/>
                </a:solidFill>
                <a:latin typeface="Helvetica"/>
              </a:defRPr>
            </a:pPr>
            <a:r>
              <a:t>Chinese Madhyamaka: 自性 zixing = "own nature"</a:t>
            </a:r>
          </a:p>
          <a:p>
            <a:pPr>
              <a:spcAft>
                <a:spcPts val="800"/>
              </a:spcAft>
              <a:defRPr sz="1600">
                <a:solidFill>
                  <a:srgbClr val="2C3E50"/>
                </a:solidFill>
                <a:latin typeface="Helvetica"/>
              </a:defRPr>
            </a:pPr>
            <a:r>
              <a:t>Central insight: 自性空 — "empty of own-nature"</a:t>
            </a:r>
          </a:p>
          <a:p>
            <a:pPr>
              <a:spcAft>
                <a:spcPts val="800"/>
              </a:spcAft>
              <a:defRPr sz="1600">
                <a:solidFill>
                  <a:srgbClr val="2C3E50"/>
                </a:solidFill>
                <a:latin typeface="Helvetica"/>
              </a:defRPr>
            </a:pPr>
            <a:r>
              <a:t>Nothing has inherent nature</a:t>
            </a:r>
          </a:p>
          <a:p>
            <a:pPr>
              <a:spcAft>
                <a:spcPts val="800"/>
              </a:spcAft>
              <a:defRPr sz="1600">
                <a:solidFill>
                  <a:srgbClr val="2C3E50"/>
                </a:solidFill>
                <a:latin typeface="Helvetica"/>
              </a:defRPr>
            </a:pPr>
            <a:r>
              <a:t>Meditation sees through the illusion of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457200"/>
            <a:ext cx="7680960" cy="731520"/>
          </a:xfrm>
          <a:prstGeom prst="rect">
            <a:avLst/>
          </a:prstGeom>
          <a:noFill/>
        </p:spPr>
        <p:txBody>
          <a:bodyPr wrap="square">
            <a:spAutoFit/>
          </a:bodyPr>
          <a:lstStyle/>
          <a:p>
            <a:pPr algn="l">
              <a:defRPr sz="2800" b="1">
                <a:solidFill>
                  <a:srgbClr val="1A1A2E"/>
                </a:solidFill>
                <a:latin typeface="Helvetica"/>
              </a:defRPr>
            </a:pPr>
            <a:r>
              <a:t>What the Words Know</a:t>
            </a:r>
          </a:p>
        </p:txBody>
      </p:sp>
      <p:sp>
        <p:nvSpPr>
          <p:cNvPr id="3" name="Rectangle 2"/>
          <p:cNvSpPr/>
          <p:nvPr/>
        </p:nvSpPr>
        <p:spPr>
          <a:xfrm>
            <a:off x="731520" y="1143000"/>
            <a:ext cx="1371600" cy="2540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7680960" cy="4572000"/>
          </a:xfrm>
          <a:prstGeom prst="rect">
            <a:avLst/>
          </a:prstGeom>
          <a:noFill/>
        </p:spPr>
        <p:txBody>
          <a:bodyPr wrap="square">
            <a:spAutoFit/>
          </a:bodyPr>
          <a:lstStyle/>
          <a:p>
            <a:pPr>
              <a:spcAft>
                <a:spcPts val="800"/>
              </a:spcAft>
              <a:defRPr sz="1800">
                <a:solidFill>
                  <a:srgbClr val="2C3E50"/>
                </a:solidFill>
                <a:latin typeface="Helvetica"/>
              </a:defRPr>
            </a:pPr>
            <a:r>
              <a:t>Sanskrit word-structure carries philosophical weight</a:t>
            </a:r>
          </a:p>
          <a:p>
            <a:pPr>
              <a:spcAft>
                <a:spcPts val="800"/>
              </a:spcAft>
              <a:defRPr sz="1800">
                <a:solidFill>
                  <a:srgbClr val="2C3E50"/>
                </a:solidFill>
                <a:latin typeface="Helvetica"/>
              </a:defRPr>
            </a:pPr>
            <a:r>
              <a:t>Roots and prefixes compress arguments about what concepts mean</a:t>
            </a:r>
          </a:p>
          <a:p>
            <a:pPr>
              <a:spcAft>
                <a:spcPts val="800"/>
              </a:spcAft>
              <a:defRPr sz="1800">
                <a:solidFill>
                  <a:srgbClr val="2C3E50"/>
                </a:solidFill>
                <a:latin typeface="Helvetica"/>
              </a:defRPr>
            </a:pPr>
            <a:r>
              <a:t>Translation is always interpretation</a:t>
            </a:r>
          </a:p>
          <a:p>
            <a:pPr>
              <a:spcAft>
                <a:spcPts val="800"/>
              </a:spcAft>
              <a:defRPr sz="1800">
                <a:solidFill>
                  <a:srgbClr val="2C3E50"/>
                </a:solidFill>
                <a:latin typeface="Helvetica"/>
              </a:defRPr>
            </a:pPr>
            <a:r>
              <a:t>Sound vs. meaning, darkness vs. ignorance, extinction vs. restraint</a:t>
            </a:r>
          </a:p>
          <a:p>
            <a:pPr>
              <a:spcAft>
                <a:spcPts val="800"/>
              </a:spcAft>
              <a:defRPr sz="1800">
                <a:solidFill>
                  <a:srgbClr val="2C3E50"/>
                </a:solidFill>
                <a:latin typeface="Helvetica"/>
              </a:defRPr>
            </a:pPr>
            <a:r>
              <a:t>Cross-cultural transmission is real but partial</a:t>
            </a:r>
          </a:p>
          <a:p>
            <a:pPr>
              <a:spcAft>
                <a:spcPts val="800"/>
              </a:spcAft>
              <a:defRPr sz="1800">
                <a:solidFill>
                  <a:srgbClr val="2C3E50"/>
                </a:solidFill>
                <a:latin typeface="Helvetica"/>
              </a:defRPr>
            </a:pPr>
            <a:r>
              <a:t>dhyana to zen is rock-solid; the Yoga Sutras' vocabulary has no Chinese equivalent</a:t>
            </a:r>
          </a:p>
          <a:p>
            <a:pPr>
              <a:spcAft>
                <a:spcPts val="800"/>
              </a:spcAft>
              <a:defRPr sz="1800">
                <a:solidFill>
                  <a:srgbClr val="2C3E50"/>
                </a:solidFill>
                <a:latin typeface="Helvetica"/>
              </a:defRPr>
            </a:pPr>
            <a:r>
              <a:t>The most instructive cases are sometimes the failures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