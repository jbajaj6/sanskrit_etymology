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ground this in a sentence most of you already know: Yoga Sutra 1.2, the definition of yoga itself. Here it is in Devanagari and transliteration.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Samadhi — the culmination of yogic practice. Built from the root dha, "to place," with two prefixes: sam meaning "together" or "completely," and a meaning "toward." Plus the suffix -i making it an action noun. So literally: a complete placing-together. Philosophically: the state of total meditative absorption where the meditator's awareness merges with its object.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Nirodha — the operative word in Yoga Sutra 1.2. Built from the prefix ni, which intensifies, plus the root rudh, meaning "to hold back" or "to restrain," plus the suffix -a. So literally: a complete holding-back. Philosophically: the stilling of citta's habitual activity so that pure awareness can emerge. Why does the morphology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This becomes even more interesting when we get to the Chinese rendering later.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One more Sanskrit case. Samskara — sam plus the root kr, "to make," plus the suffix -a. Literally: a thorough making. Philosophically: the latent impressions — subliminal traces — left in the mind by every experience. This word has three completely different lives depending on context. In ritual, it means consecration — the sacraments of birth, marriage, death. In grammar, it means refinement — the word Sanskrit itself, samskrta, means "well-made." And in the Yoga Sutras, it means the unconscious residue of experience that shapes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jinglu,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My last mapping case is a cautionary one. Svarupa in the Yoga Sutras means "own form" — it's what purusa,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show you something quickly. I built an interactive tool that lets you explore all of these terms yourself. It has 84 terms — every term from your Yoga Sutras vocabulary lists, all four chapters. Let me switch to the browser and show you. [Switch to browser, open demo/index.html] Type "samadhi" — show the full breakdown card. Point out the segmentation strip (color-coded prefixes, root, suffixes), the morphology grid, the philosophical meaning, the Chinese equivalents. Click "karma" from the browse grid to show it works for any term. Point out that karma and samskara share the root kr ("to do/make"). "This is available for you to explore after class — it's just an HTML file, works offline, no installation needed." [Switch back to slides]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1645920"/>
            <a:ext cx="2743200" cy="762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920240"/>
            <a:ext cx="7680960" cy="1828800"/>
          </a:xfrm>
          <a:prstGeom prst="rect">
            <a:avLst/>
          </a:prstGeom>
          <a:noFill/>
        </p:spPr>
        <p:txBody>
          <a:bodyPr wrap="square">
            <a:spAutoFit/>
          </a:bodyPr>
          <a:lstStyle/>
          <a:p>
            <a:pPr algn="l">
              <a:spcBef>
                <a:spcPts val="0"/>
              </a:spcBef>
              <a:spcAft>
                <a:spcPts val="800"/>
              </a:spcAft>
              <a:defRPr sz="4400" b="1" i="0">
                <a:solidFill>
                  <a:srgbClr val="FFFFFF"/>
                </a:solidFill>
                <a:latin typeface="Palatino"/>
              </a:defRPr>
            </a:pPr>
            <a:r>
              <a:t>What Sanskrit Words Know</a:t>
            </a:r>
          </a:p>
        </p:txBody>
      </p:sp>
      <p:sp>
        <p:nvSpPr>
          <p:cNvPr id="4" name="TextBox 3"/>
          <p:cNvSpPr txBox="1"/>
          <p:nvPr/>
        </p:nvSpPr>
        <p:spPr>
          <a:xfrm>
            <a:off x="731520" y="3840480"/>
            <a:ext cx="7680960" cy="1097280"/>
          </a:xfrm>
          <a:prstGeom prst="rect">
            <a:avLst/>
          </a:prstGeom>
          <a:noFill/>
        </p:spPr>
        <p:txBody>
          <a:bodyPr wrap="square">
            <a:spAutoFit/>
          </a:bodyPr>
          <a:lstStyle/>
          <a:p>
            <a:pPr algn="l">
              <a:spcBef>
                <a:spcPts val="0"/>
              </a:spcBef>
              <a:spcAft>
                <a:spcPts val="400"/>
              </a:spcAft>
              <a:defRPr sz="2000" b="0" i="0">
                <a:solidFill>
                  <a:srgbClr val="CADCFC"/>
                </a:solidFill>
                <a:latin typeface="Avenir Next"/>
              </a:defRPr>
            </a:pPr>
            <a:r>
              <a:t>Morphology, Meditation, and the Journey from India to China</a:t>
            </a:r>
          </a:p>
        </p:txBody>
      </p:sp>
      <p:sp>
        <p:nvSpPr>
          <p:cNvPr id="5" name="Rounded Rectangle 4"/>
          <p:cNvSpPr/>
          <p:nvPr/>
        </p:nvSpPr>
        <p:spPr>
          <a:xfrm>
            <a:off x="731520" y="6035040"/>
            <a:ext cx="7680960" cy="254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Core Claim</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Sanskrit philosophical terms are not arbitrary labels</a:t>
            </a:r>
          </a:p>
          <a:p>
            <a:pPr algn="l">
              <a:spcBef>
                <a:spcPts val="800"/>
              </a:spcBef>
              <a:spcAft>
                <a:spcPts val="400"/>
              </a:spcAft>
              <a:defRPr sz="2000" b="0" i="0">
                <a:solidFill>
                  <a:srgbClr val="2C3E50"/>
                </a:solidFill>
                <a:latin typeface="Avenir Next"/>
              </a:defRPr>
            </a:pPr>
            <a:r>
              <a:t>Their internal structure — roots, prefixes, suffixes — encodes substantive claims about what concepts mean</a:t>
            </a:r>
          </a:p>
          <a:p>
            <a:pPr algn="l">
              <a:spcBef>
                <a:spcPts val="800"/>
              </a:spcBef>
              <a:spcAft>
                <a:spcPts val="400"/>
              </a:spcAft>
              <a:defRPr sz="2000" b="0" i="0">
                <a:solidFill>
                  <a:srgbClr val="2C3E50"/>
                </a:solidFill>
                <a:latin typeface="Avenir Next"/>
              </a:defRPr>
            </a:pPr>
            <a:r>
              <a:t>This matters especially in the Yoga Sutras, where every word carries extraordinary weight</a:t>
            </a:r>
          </a:p>
          <a:p>
            <a:pPr algn="l">
              <a:spcBef>
                <a:spcPts val="800"/>
              </a:spcBef>
              <a:spcAft>
                <a:spcPts val="400"/>
              </a:spcAft>
              <a:defRPr sz="2000" b="0" i="0">
                <a:solidFill>
                  <a:srgbClr val="2C3E50"/>
                </a:solidFill>
                <a:latin typeface="Avenir Next"/>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Defining Sutra</a:t>
            </a:r>
          </a:p>
        </p:txBody>
      </p:sp>
      <p:sp>
        <p:nvSpPr>
          <p:cNvPr id="4" name="TextBox 3"/>
          <p:cNvSpPr txBox="1"/>
          <p:nvPr/>
        </p:nvSpPr>
        <p:spPr>
          <a:xfrm>
            <a:off x="914400" y="1463040"/>
            <a:ext cx="914400" cy="914400"/>
          </a:xfrm>
          <a:prstGeom prst="rect">
            <a:avLst/>
          </a:prstGeom>
          <a:noFill/>
        </p:spPr>
        <p:txBody>
          <a:bodyPr wrap="none">
            <a:spAutoFit/>
          </a:bodyPr>
          <a:lstStyle/>
          <a:p>
            <a:pPr algn="l">
              <a:spcBef>
                <a:spcPts val="0"/>
              </a:spcBef>
              <a:spcAft>
                <a:spcPts val="0"/>
              </a:spcAft>
              <a:defRPr sz="7200" b="1" i="0">
                <a:solidFill>
                  <a:srgbClr val="7B2D26"/>
                </a:solidFill>
                <a:latin typeface="Palatino"/>
              </a:defRPr>
            </a:pPr>
            <a:r>
              <a:t>“</a:t>
            </a:r>
          </a:p>
        </p:txBody>
      </p:sp>
      <p:sp>
        <p:nvSpPr>
          <p:cNvPr id="5" name="TextBox 4"/>
          <p:cNvSpPr txBox="1"/>
          <p:nvPr/>
        </p:nvSpPr>
        <p:spPr>
          <a:xfrm>
            <a:off x="1371600" y="2194560"/>
            <a:ext cx="6858000" cy="2286000"/>
          </a:xfrm>
          <a:prstGeom prst="rect">
            <a:avLst/>
          </a:prstGeom>
          <a:noFill/>
        </p:spPr>
        <p:txBody>
          <a:bodyPr wrap="square">
            <a:spAutoFit/>
          </a:bodyPr>
          <a:lstStyle/>
          <a:p>
            <a:pPr algn="l">
              <a:spcBef>
                <a:spcPts val="0"/>
              </a:spcBef>
              <a:spcAft>
                <a:spcPts val="1200"/>
              </a:spcAft>
              <a:defRPr sz="2600" b="0" i="1">
                <a:solidFill>
                  <a:srgbClr val="1E2761"/>
                </a:solidFill>
                <a:latin typeface="Palatino"/>
              </a:defRPr>
            </a:pPr>
            <a:r>
              <a:t>योगश्चित्तवृत्तिनिरोधः    yogas citta-vrtti-nirodhah</a:t>
            </a:r>
          </a:p>
        </p:txBody>
      </p:sp>
      <p:sp>
        <p:nvSpPr>
          <p:cNvPr id="6" name="TextBox 5"/>
          <p:cNvSpPr txBox="1"/>
          <p:nvPr/>
        </p:nvSpPr>
        <p:spPr>
          <a:xfrm>
            <a:off x="1371600" y="4572000"/>
            <a:ext cx="6858000" cy="731520"/>
          </a:xfrm>
          <a:prstGeom prst="rect">
            <a:avLst/>
          </a:prstGeom>
          <a:noFill/>
        </p:spPr>
        <p:txBody>
          <a:bodyPr wrap="square">
            <a:spAutoFit/>
          </a:bodyPr>
          <a:lstStyle/>
          <a:p>
            <a:pPr algn="l">
              <a:spcBef>
                <a:spcPts val="0"/>
              </a:spcBef>
              <a:spcAft>
                <a:spcPts val="0"/>
              </a:spcAft>
              <a:defRPr sz="1600" b="0" i="1">
                <a:solidFill>
                  <a:srgbClr val="7B2D26"/>
                </a:solidFill>
                <a:latin typeface="Avenir Next"/>
              </a:defRPr>
            </a:pPr>
            <a:r>
              <a:t>Yoga Sutra 1.2 — "Yoga is the stilling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How Sanskrit Word-Building Works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(dhatu): the core verb that carries primary meaning</a:t>
            </a:r>
          </a:p>
          <a:p>
            <a:pPr algn="l">
              <a:spcBef>
                <a:spcPts val="800"/>
              </a:spcBef>
              <a:spcAft>
                <a:spcPts val="400"/>
              </a:spcAft>
              <a:defRPr sz="2000" b="0" i="0">
                <a:solidFill>
                  <a:srgbClr val="2C3E50"/>
                </a:solidFill>
                <a:latin typeface="Avenir Next"/>
              </a:defRPr>
            </a:pPr>
            <a:r>
              <a:t>Prefixes (upasarga): particles that modify direction or intensity</a:t>
            </a:r>
          </a:p>
          <a:p>
            <a:pPr algn="l">
              <a:spcBef>
                <a:spcPts val="800"/>
              </a:spcBef>
              <a:spcAft>
                <a:spcPts val="400"/>
              </a:spcAft>
              <a:defRPr sz="2000" b="0" i="0">
                <a:solidFill>
                  <a:srgbClr val="2C3E50"/>
                </a:solidFill>
                <a:latin typeface="Avenir Next"/>
              </a:defRPr>
            </a:pPr>
            <a:r>
              <a:t>Suffixes (pratyaya): endings that determine grammatical category</a:t>
            </a:r>
          </a:p>
          <a:p>
            <a:pPr algn="l">
              <a:spcBef>
                <a:spcPts val="800"/>
              </a:spcBef>
              <a:spcAft>
                <a:spcPts val="400"/>
              </a:spcAft>
              <a:defRPr sz="2000" b="0" i="0">
                <a:solidFill>
                  <a:srgbClr val="2C3E50"/>
                </a:solidFill>
                <a:latin typeface="Avenir Next"/>
              </a:defRPr>
            </a:pPr>
            <a:r>
              <a:t>Compound structure: how multiple words join into one</a:t>
            </a:r>
          </a:p>
          <a:p>
            <a:pPr algn="l">
              <a:spcBef>
                <a:spcPts val="800"/>
              </a:spcBef>
              <a:spcAft>
                <a:spcPts val="400"/>
              </a:spcAft>
              <a:defRPr sz="2000" b="0" i="0">
                <a:solidFill>
                  <a:srgbClr val="2C3E50"/>
                </a:solidFill>
                <a:latin typeface="Avenir Next"/>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समाधि samadhi — Meditative Absorption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√dha — "to place, put"</a:t>
            </a:r>
          </a:p>
          <a:p>
            <a:pPr algn="l">
              <a:spcBef>
                <a:spcPts val="800"/>
              </a:spcBef>
              <a:spcAft>
                <a:spcPts val="400"/>
              </a:spcAft>
              <a:defRPr sz="1800" b="0" i="0">
                <a:solidFill>
                  <a:srgbClr val="2C3E50"/>
                </a:solidFill>
                <a:latin typeface="Avenir Next"/>
              </a:defRPr>
            </a:pPr>
            <a:r>
              <a:t>Prefixes: sam- ("together") + a- ("toward")</a:t>
            </a:r>
          </a:p>
          <a:p>
            <a:pPr algn="l">
              <a:spcBef>
                <a:spcPts val="800"/>
              </a:spcBef>
              <a:spcAft>
                <a:spcPts val="400"/>
              </a:spcAft>
              <a:defRPr sz="1800" b="0" i="0">
                <a:solidFill>
                  <a:srgbClr val="2C3E50"/>
                </a:solidFill>
                <a:latin typeface="Avenir Next"/>
              </a:defRPr>
            </a:pPr>
            <a:r>
              <a:t>Suffix: -i (action noun)</a:t>
            </a:r>
          </a:p>
          <a:p>
            <a:pPr algn="l">
              <a:spcBef>
                <a:spcPts val="800"/>
              </a:spcBef>
              <a:spcAft>
                <a:spcPts val="400"/>
              </a:spcAft>
              <a:defRPr sz="1800" b="0" i="0">
                <a:solidFill>
                  <a:srgbClr val="2C3E50"/>
                </a:solidFill>
                <a:latin typeface="Avenir Next"/>
              </a:defRPr>
            </a:pPr>
            <a:r>
              <a:t>Literal: "a complete placing-together"</a:t>
            </a:r>
          </a:p>
          <a:p>
            <a:pPr algn="l">
              <a:spcBef>
                <a:spcPts val="800"/>
              </a:spcBef>
              <a:spcAft>
                <a:spcPts val="400"/>
              </a:spcAft>
              <a:defRPr sz="1800" b="0" i="0">
                <a:solidFill>
                  <a:srgbClr val="2C3E50"/>
                </a:solidFill>
                <a:latin typeface="Avenir Next"/>
              </a:defRPr>
            </a:pPr>
            <a:r>
              <a:t>Philosophical: total absorption of awareness into its object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word's architecture argues for its meaning</a:t>
            </a:r>
          </a:p>
          <a:p>
            <a:pPr algn="l">
              <a:spcBef>
                <a:spcPts val="800"/>
              </a:spcBef>
              <a:spcAft>
                <a:spcPts val="400"/>
              </a:spcAft>
              <a:defRPr sz="1800" b="0" i="0">
                <a:solidFill>
                  <a:srgbClr val="2C3E50"/>
                </a:solidFill>
                <a:latin typeface="Avenir Next"/>
              </a:defRPr>
            </a:pPr>
            <a:r>
              <a:t>"Placing-together" is not a metaphor added later — it is built into the word</a:t>
            </a:r>
          </a:p>
          <a:p>
            <a:pPr algn="l">
              <a:spcBef>
                <a:spcPts val="800"/>
              </a:spcBef>
              <a:spcAft>
                <a:spcPts val="400"/>
              </a:spcAft>
              <a:defRPr sz="1800" b="0" i="0">
                <a:solidFill>
                  <a:srgbClr val="2C3E50"/>
                </a:solidFill>
                <a:latin typeface="Avenir Next"/>
              </a:defRPr>
            </a:pPr>
            <a:r>
              <a:t>Common folk etymology sama + adhi ("equal placing") is not supported by standard grammar</a:t>
            </a:r>
          </a:p>
          <a:p>
            <a:pPr algn="l">
              <a:spcBef>
                <a:spcPts val="800"/>
              </a:spcBef>
              <a:spcAft>
                <a:spcPts val="400"/>
              </a:spcAft>
              <a:defRPr sz="1800" b="0" i="0">
                <a:solidFill>
                  <a:srgbClr val="2C3E50"/>
                </a:solidFill>
                <a:latin typeface="Avenir Next"/>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निरोध nirodha — Cessation or Stilling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√rudh — "to hold back, restrain"</a:t>
            </a:r>
          </a:p>
          <a:p>
            <a:pPr algn="l">
              <a:spcBef>
                <a:spcPts val="800"/>
              </a:spcBef>
              <a:spcAft>
                <a:spcPts val="400"/>
              </a:spcAft>
              <a:defRPr sz="1800" b="0" i="0">
                <a:solidFill>
                  <a:srgbClr val="2C3E50"/>
                </a:solidFill>
                <a:latin typeface="Avenir Next"/>
              </a:defRPr>
            </a:pPr>
            <a:r>
              <a:t>Prefix: ni- (intensifying)</a:t>
            </a:r>
          </a:p>
          <a:p>
            <a:pPr algn="l">
              <a:spcBef>
                <a:spcPts val="800"/>
              </a:spcBef>
              <a:spcAft>
                <a:spcPts val="400"/>
              </a:spcAft>
              <a:defRPr sz="1800" b="0" i="0">
                <a:solidFill>
                  <a:srgbClr val="2C3E50"/>
                </a:solidFill>
                <a:latin typeface="Avenir Next"/>
              </a:defRPr>
            </a:pPr>
            <a:r>
              <a:t>Suffix: -a (action noun)</a:t>
            </a:r>
          </a:p>
          <a:p>
            <a:pPr algn="l">
              <a:spcBef>
                <a:spcPts val="800"/>
              </a:spcBef>
              <a:spcAft>
                <a:spcPts val="400"/>
              </a:spcAft>
              <a:defRPr sz="1800" b="0" i="0">
                <a:solidFill>
                  <a:srgbClr val="2C3E50"/>
                </a:solidFill>
                <a:latin typeface="Avenir Next"/>
              </a:defRPr>
            </a:pPr>
            <a:r>
              <a:t>Literal: "a complete holding-back"</a:t>
            </a:r>
          </a:p>
          <a:p>
            <a:pPr algn="l">
              <a:spcBef>
                <a:spcPts val="800"/>
              </a:spcBef>
              <a:spcAft>
                <a:spcPts val="400"/>
              </a:spcAft>
              <a:defRPr sz="1800" b="0" i="0">
                <a:solidFill>
                  <a:srgbClr val="2C3E50"/>
                </a:solidFill>
                <a:latin typeface="Avenir Next"/>
              </a:defRPr>
            </a:pPr>
            <a:r>
              <a:t>Philosophical: the stilling of mental activity</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English translations carry different weight:</a:t>
            </a:r>
          </a:p>
          <a:p>
            <a:pPr algn="l">
              <a:spcBef>
                <a:spcPts val="800"/>
              </a:spcBef>
              <a:spcAft>
                <a:spcPts val="400"/>
              </a:spcAft>
              <a:defRPr sz="1800" b="0" i="0">
                <a:solidFill>
                  <a:srgbClr val="2C3E50"/>
                </a:solidFill>
                <a:latin typeface="Avenir Next"/>
              </a:defRPr>
            </a:pPr>
            <a:r>
              <a:t>"Cessation" — implies ending</a:t>
            </a:r>
          </a:p>
          <a:p>
            <a:pPr algn="l">
              <a:spcBef>
                <a:spcPts val="800"/>
              </a:spcBef>
              <a:spcAft>
                <a:spcPts val="400"/>
              </a:spcAft>
              <a:defRPr sz="1800" b="0" i="0">
                <a:solidFill>
                  <a:srgbClr val="2C3E50"/>
                </a:solidFill>
                <a:latin typeface="Avenir Next"/>
              </a:defRPr>
            </a:pPr>
            <a:r>
              <a:t>"Suppression" — implies force</a:t>
            </a:r>
          </a:p>
          <a:p>
            <a:pPr algn="l">
              <a:spcBef>
                <a:spcPts val="800"/>
              </a:spcBef>
              <a:spcAft>
                <a:spcPts val="400"/>
              </a:spcAft>
              <a:defRPr sz="1800" b="0" i="0">
                <a:solidFill>
                  <a:srgbClr val="2C3E50"/>
                </a:solidFill>
                <a:latin typeface="Avenir Next"/>
              </a:defRPr>
            </a:pPr>
            <a:r>
              <a:t>"Stilling" — implies quieting</a:t>
            </a:r>
          </a:p>
          <a:p>
            <a:pPr algn="l">
              <a:spcBef>
                <a:spcPts val="800"/>
              </a:spcBef>
              <a:spcAft>
                <a:spcPts val="400"/>
              </a:spcAft>
              <a:defRPr sz="1800" b="0" i="0">
                <a:solidFill>
                  <a:srgbClr val="2C3E50"/>
                </a:solidFill>
                <a:latin typeface="Avenir Next"/>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abhinivesa — Clinging to Existence</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√vis — "to enter, settle into"</a:t>
            </a:r>
          </a:p>
          <a:p>
            <a:pPr algn="l">
              <a:spcBef>
                <a:spcPts val="800"/>
              </a:spcBef>
              <a:spcAft>
                <a:spcPts val="400"/>
              </a:spcAft>
              <a:defRPr sz="1800" b="0" i="0">
                <a:solidFill>
                  <a:srgbClr val="2C3E50"/>
                </a:solidFill>
                <a:latin typeface="Avenir Next"/>
              </a:defRPr>
            </a:pPr>
            <a:r>
              <a:t>Prefix: abhi- ("toward, upon")</a:t>
            </a:r>
          </a:p>
          <a:p>
            <a:pPr algn="l">
              <a:spcBef>
                <a:spcPts val="800"/>
              </a:spcBef>
              <a:spcAft>
                <a:spcPts val="400"/>
              </a:spcAft>
              <a:defRPr sz="1800" b="0" i="0">
                <a:solidFill>
                  <a:srgbClr val="2C3E50"/>
                </a:solidFill>
                <a:latin typeface="Avenir Next"/>
              </a:defRPr>
            </a:pPr>
            <a:r>
              <a:t>Prefix: ni- ("down, into")</a:t>
            </a:r>
          </a:p>
          <a:p>
            <a:pPr algn="l">
              <a:spcBef>
                <a:spcPts val="800"/>
              </a:spcBef>
              <a:spcAft>
                <a:spcPts val="400"/>
              </a:spcAft>
              <a:defRPr sz="1800" b="0" i="0">
                <a:solidFill>
                  <a:srgbClr val="2C3E50"/>
                </a:solidFill>
                <a:latin typeface="Avenir Next"/>
              </a:defRPr>
            </a:pPr>
            <a:r>
              <a:t>Literal: "a deep settling-into"</a:t>
            </a:r>
          </a:p>
          <a:p>
            <a:pPr algn="l">
              <a:spcBef>
                <a:spcPts val="800"/>
              </a:spcBef>
              <a:spcAft>
                <a:spcPts val="400"/>
              </a:spcAft>
              <a:defRPr sz="1800" b="0" i="0">
                <a:solidFill>
                  <a:srgbClr val="2C3E50"/>
                </a:solidFill>
                <a:latin typeface="Avenir Next"/>
              </a:defRPr>
            </a:pPr>
            <a:r>
              <a:t>Three layers of settling deeper</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fifth klesa (affliction)</a:t>
            </a:r>
          </a:p>
          <a:p>
            <a:pPr algn="l">
              <a:spcBef>
                <a:spcPts val="800"/>
              </a:spcBef>
              <a:spcAft>
                <a:spcPts val="400"/>
              </a:spcAft>
              <a:defRPr sz="1800" b="0" i="0">
                <a:solidFill>
                  <a:srgbClr val="2C3E50"/>
                </a:solidFill>
                <a:latin typeface="Avenir Next"/>
              </a:defRPr>
            </a:pPr>
            <a:r>
              <a:t>"Flows by its own momentum, even in the wise" (YS 2.9)</a:t>
            </a:r>
          </a:p>
          <a:p>
            <a:pPr algn="l">
              <a:spcBef>
                <a:spcPts val="800"/>
              </a:spcBef>
              <a:spcAft>
                <a:spcPts val="400"/>
              </a:spcAft>
              <a:defRPr sz="1800" b="0" i="0">
                <a:solidFill>
                  <a:srgbClr val="2C3E50"/>
                </a:solidFill>
                <a:latin typeface="Avenir Next"/>
              </a:defRPr>
            </a:pPr>
            <a:r>
              <a:t>Not an intellectual error — an embodied survival drive</a:t>
            </a:r>
          </a:p>
          <a:p>
            <a:pPr algn="l">
              <a:spcBef>
                <a:spcPts val="800"/>
              </a:spcBef>
              <a:spcAft>
                <a:spcPts val="400"/>
              </a:spcAft>
              <a:defRPr sz="1800" b="0" i="0">
                <a:solidFill>
                  <a:srgbClr val="2C3E50"/>
                </a:solidFill>
                <a:latin typeface="Avenir Next"/>
              </a:defRPr>
            </a:pPr>
            <a:r>
              <a:t>The 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saṃskāra — Latent Impressions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√kṛ — "to do, make"</a:t>
            </a:r>
          </a:p>
          <a:p>
            <a:pPr algn="l">
              <a:spcBef>
                <a:spcPts val="800"/>
              </a:spcBef>
              <a:spcAft>
                <a:spcPts val="400"/>
              </a:spcAft>
              <a:defRPr sz="2000" b="0" i="0">
                <a:solidFill>
                  <a:srgbClr val="2C3E50"/>
                </a:solidFill>
                <a:latin typeface="Avenir Next"/>
              </a:defRPr>
            </a:pPr>
            <a:r>
              <a:t>Prefix: sam- ("completely, thoroughly")</a:t>
            </a:r>
          </a:p>
          <a:p>
            <a:pPr algn="l">
              <a:spcBef>
                <a:spcPts val="800"/>
              </a:spcBef>
              <a:spcAft>
                <a:spcPts val="400"/>
              </a:spcAft>
              <a:defRPr sz="2000" b="0" i="0">
                <a:solidFill>
                  <a:srgbClr val="2C3E50"/>
                </a:solidFill>
                <a:latin typeface="Avenir Next"/>
              </a:defRPr>
            </a:pPr>
            <a:r>
              <a:t>Literal: "a thorough making"</a:t>
            </a:r>
          </a:p>
          <a:p>
            <a:pPr algn="l">
              <a:spcBef>
                <a:spcPts val="800"/>
              </a:spcBef>
              <a:spcAft>
                <a:spcPts val="400"/>
              </a:spcAft>
              <a:defRPr sz="2000" b="0" i="0">
                <a:solidFill>
                  <a:srgbClr val="2C3E50"/>
                </a:solidFill>
                <a:latin typeface="Avenir Next"/>
              </a:defRPr>
            </a:pPr>
            <a:r>
              <a:t>Philosophical: accumulated subliminal traces that shape perception</a:t>
            </a:r>
          </a:p>
          <a:p>
            <a:pPr algn="l">
              <a:spcBef>
                <a:spcPts val="1600"/>
              </a:spcBef>
              <a:spcAft>
                <a:spcPts val="400"/>
              </a:spcAft>
              <a:defRPr sz="2000" b="1" i="0">
                <a:solidFill>
                  <a:srgbClr val="2C3E50"/>
                </a:solidFill>
                <a:latin typeface="Avenir Next"/>
              </a:defRPr>
            </a:pPr>
            <a:r>
              <a:t>Three lives of one word:</a:t>
            </a:r>
          </a:p>
          <a:p>
            <a:pPr algn="l">
              <a:spcBef>
                <a:spcPts val="200"/>
              </a:spcBef>
              <a:spcAft>
                <a:spcPts val="600"/>
              </a:spcAft>
              <a:defRPr sz="1800" b="0" i="1">
                <a:solidFill>
                  <a:srgbClr val="2C3E50"/>
                </a:solidFill>
                <a:latin typeface="Avenir Next"/>
              </a:defRPr>
            </a:pPr>
            <a:r>
              <a:t>     Ritual: consecration, sacrament</a:t>
            </a:r>
          </a:p>
          <a:p>
            <a:pPr algn="l">
              <a:spcBef>
                <a:spcPts val="200"/>
              </a:spcBef>
              <a:spcAft>
                <a:spcPts val="600"/>
              </a:spcAft>
              <a:defRPr sz="1800" b="0" i="1">
                <a:solidFill>
                  <a:srgbClr val="2C3E50"/>
                </a:solidFill>
                <a:latin typeface="Avenir Next"/>
              </a:defRPr>
            </a:pPr>
            <a:r>
              <a:t>     Grammar: refinement — saṃskṛta = "Sanskrit" = the "well-made" language</a:t>
            </a:r>
          </a:p>
          <a:p>
            <a:pPr algn="l">
              <a:spcBef>
                <a:spcPts val="200"/>
              </a:spcBef>
              <a:spcAft>
                <a:spcPts val="600"/>
              </a:spcAft>
              <a:defRPr sz="1800" b="0" i="1">
                <a:solidFill>
                  <a:srgbClr val="2C3E50"/>
                </a:solidFill>
                <a:latin typeface="Avenir Next"/>
              </a:defRPr>
            </a:pPr>
            <a:r>
              <a:t>     Yoga Sutras: the unconscious residue of experience</a:t>
            </a:r>
          </a:p>
          <a:p>
            <a:pPr algn="l">
              <a:spcBef>
                <a:spcPts val="800"/>
              </a:spcBef>
              <a:spcAft>
                <a:spcPts val="400"/>
              </a:spcAft>
              <a:defRPr sz="2000" b="0" i="0">
                <a:solidFill>
                  <a:srgbClr val="2C3E50"/>
                </a:solidFill>
                <a:latin typeface="Avenir Next"/>
              </a:defRPr>
            </a:pPr>
            <a:r>
              <a:t>Saṃskāras from samādhi overwrite saṃskāras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2560320"/>
            <a:ext cx="2286000" cy="635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7680960" cy="1645920"/>
          </a:xfrm>
          <a:prstGeom prst="rect">
            <a:avLst/>
          </a:prstGeom>
          <a:noFill/>
        </p:spPr>
        <p:txBody>
          <a:bodyPr wrap="square">
            <a:spAutoFit/>
          </a:bodyPr>
          <a:lstStyle/>
          <a:p>
            <a:pPr algn="l">
              <a:spcBef>
                <a:spcPts val="0"/>
              </a:spcBef>
              <a:spcAft>
                <a:spcPts val="0"/>
              </a:spcAft>
              <a:defRPr sz="3800" b="1" i="0">
                <a:solidFill>
                  <a:srgbClr val="FFFFFF"/>
                </a:solidFill>
                <a:latin typeface="Palatino"/>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dhyana to chan to zen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phonetic chain:</a:t>
            </a:r>
          </a:p>
          <a:p>
            <a:pPr algn="l">
              <a:spcBef>
                <a:spcPts val="800"/>
              </a:spcBef>
              <a:spcAft>
                <a:spcPts val="400"/>
              </a:spcAft>
              <a:defRPr sz="1800" b="0" i="0">
                <a:solidFill>
                  <a:srgbClr val="2C3E50"/>
                </a:solidFill>
                <a:latin typeface="Avenir Next"/>
              </a:defRPr>
            </a:pPr>
            <a:r>
              <a:t>dhyana (Sanskrit)</a:t>
            </a:r>
          </a:p>
          <a:p>
            <a:pPr algn="l">
              <a:spcBef>
                <a:spcPts val="800"/>
              </a:spcBef>
              <a:spcAft>
                <a:spcPts val="400"/>
              </a:spcAft>
              <a:defRPr sz="1800" b="0" i="0">
                <a:solidFill>
                  <a:srgbClr val="2C3E50"/>
                </a:solidFill>
                <a:latin typeface="Avenir Next"/>
              </a:defRPr>
            </a:pPr>
            <a:r>
              <a:t>jhana (Pali/Prakrit)</a:t>
            </a:r>
          </a:p>
          <a:p>
            <a:pPr algn="l">
              <a:spcBef>
                <a:spcPts val="800"/>
              </a:spcBef>
              <a:spcAft>
                <a:spcPts val="400"/>
              </a:spcAft>
              <a:defRPr sz="1800" b="0" i="0">
                <a:solidFill>
                  <a:srgbClr val="2C3E50"/>
                </a:solidFill>
                <a:latin typeface="Avenir Next"/>
              </a:defRPr>
            </a:pPr>
            <a:r>
              <a:t>channa / 禪那 (Chinese)</a:t>
            </a:r>
          </a:p>
          <a:p>
            <a:pPr algn="l">
              <a:spcBef>
                <a:spcPts val="800"/>
              </a:spcBef>
              <a:spcAft>
                <a:spcPts val="400"/>
              </a:spcAft>
              <a:defRPr sz="1800" b="0" i="0">
                <a:solidFill>
                  <a:srgbClr val="2C3E50"/>
                </a:solidFill>
                <a:latin typeface="Avenir Next"/>
              </a:defRPr>
            </a:pPr>
            <a:r>
              <a:t>chan / 禪 (abbreviated)</a:t>
            </a:r>
          </a:p>
          <a:p>
            <a:pPr algn="l">
              <a:spcBef>
                <a:spcPts val="800"/>
              </a:spcBef>
              <a:spcAft>
                <a:spcPts val="400"/>
              </a:spcAft>
              <a:defRPr sz="1800" b="0" i="0">
                <a:solidFill>
                  <a:srgbClr val="2C3E50"/>
                </a:solidFill>
                <a:latin typeface="Avenir Next"/>
              </a:defRPr>
            </a:pPr>
            <a:r>
              <a:t>zen / 禅 (Japanese)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Four Chinese renderings:</a:t>
            </a:r>
          </a:p>
          <a:p>
            <a:pPr algn="l">
              <a:spcBef>
                <a:spcPts val="800"/>
              </a:spcBef>
              <a:spcAft>
                <a:spcPts val="400"/>
              </a:spcAft>
              <a:defRPr sz="1800" b="0" i="0">
                <a:solidFill>
                  <a:srgbClr val="2C3E50"/>
                </a:solidFill>
                <a:latin typeface="Avenir Next"/>
              </a:defRPr>
            </a:pPr>
            <a:r>
              <a:t>禪那 channa — full transliteration</a:t>
            </a:r>
          </a:p>
          <a:p>
            <a:pPr algn="l">
              <a:spcBef>
                <a:spcPts val="800"/>
              </a:spcBef>
              <a:spcAft>
                <a:spcPts val="400"/>
              </a:spcAft>
              <a:defRPr sz="1800" b="0" i="0">
                <a:solidFill>
                  <a:srgbClr val="2C3E50"/>
                </a:solidFill>
                <a:latin typeface="Avenir Next"/>
              </a:defRPr>
            </a:pPr>
            <a:r>
              <a:t>禪 chan — abbreviation (became school name)</a:t>
            </a:r>
          </a:p>
          <a:p>
            <a:pPr algn="l">
              <a:spcBef>
                <a:spcPts val="800"/>
              </a:spcBef>
              <a:spcAft>
                <a:spcPts val="400"/>
              </a:spcAft>
              <a:defRPr sz="1800" b="0" i="0">
                <a:solidFill>
                  <a:srgbClr val="2C3E50"/>
                </a:solidFill>
                <a:latin typeface="Avenir Next"/>
              </a:defRPr>
            </a:pPr>
            <a:r>
              <a:t>禪定 chanding — hybrid (sound + meaning)</a:t>
            </a:r>
          </a:p>
          <a:p>
            <a:pPr algn="l">
              <a:spcBef>
                <a:spcPts val="800"/>
              </a:spcBef>
              <a:spcAft>
                <a:spcPts val="400"/>
              </a:spcAft>
              <a:defRPr sz="1800" b="0" i="0">
                <a:solidFill>
                  <a:srgbClr val="2C3E50"/>
                </a:solidFill>
                <a:latin typeface="Avenir Next"/>
              </a:defRPr>
            </a:pPr>
            <a:r>
              <a:t>靜慮 jinglu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अविद्या avidya to 無明 wuming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Sanskrit: a- ("not") + vidya ("knowledge")</a:t>
            </a:r>
          </a:p>
          <a:p>
            <a:pPr algn="l">
              <a:spcBef>
                <a:spcPts val="800"/>
              </a:spcBef>
              <a:spcAft>
                <a:spcPts val="400"/>
              </a:spcAft>
              <a:defRPr sz="1800" b="0" i="0">
                <a:solidFill>
                  <a:srgbClr val="2C3E50"/>
                </a:solidFill>
                <a:latin typeface="Avenir Next"/>
              </a:defRPr>
            </a:pPr>
            <a:r>
              <a:t>= "non-knowledge"</a:t>
            </a:r>
          </a:p>
          <a:p>
            <a:pPr algn="l">
              <a:spcBef>
                <a:spcPts val="800"/>
              </a:spcBef>
              <a:spcAft>
                <a:spcPts val="400"/>
              </a:spcAft>
              <a:defRPr sz="1800" b="0" i="0">
                <a:solidFill>
                  <a:srgbClr val="2C3E50"/>
                </a:solidFill>
                <a:latin typeface="Avenir Next"/>
              </a:defRPr>
            </a:pPr>
            <a:r>
              <a:t>Chinese: 無 ("without") + 明 ("brightness")</a:t>
            </a:r>
          </a:p>
          <a:p>
            <a:pPr algn="l">
              <a:spcBef>
                <a:spcPts val="800"/>
              </a:spcBef>
              <a:spcAft>
                <a:spcPts val="400"/>
              </a:spcAft>
              <a:defRPr sz="1800" b="0" i="0">
                <a:solidFill>
                  <a:srgbClr val="2C3E50"/>
                </a:solidFill>
                <a:latin typeface="Avenir Next"/>
              </a:defRPr>
            </a:pPr>
            <a:r>
              <a:t>= 無明 wuming = "without brightness"</a:t>
            </a:r>
          </a:p>
          <a:p>
            <a:pPr algn="l">
              <a:spcBef>
                <a:spcPts val="800"/>
              </a:spcBef>
              <a:spcAft>
                <a:spcPts val="400"/>
              </a:spcAft>
              <a:defRPr sz="1800" b="0" i="0">
                <a:solidFill>
                  <a:srgbClr val="2C3E50"/>
                </a:solidFill>
                <a:latin typeface="Avenir Next"/>
              </a:defRPr>
            </a:pPr>
            <a:r>
              <a:t>A morphological mirror — almost piece by piece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translators chose "brightness" over "knowledge"</a:t>
            </a:r>
          </a:p>
          <a:p>
            <a:pPr algn="l">
              <a:spcBef>
                <a:spcPts val="800"/>
              </a:spcBef>
              <a:spcAft>
                <a:spcPts val="400"/>
              </a:spcAft>
              <a:defRPr sz="1800" b="0" i="0">
                <a:solidFill>
                  <a:srgbClr val="2C3E50"/>
                </a:solidFill>
                <a:latin typeface="Avenir Next"/>
              </a:defRPr>
            </a:pPr>
            <a:r>
              <a:t>Sanskrit image: epistemological — a failure of knowing</a:t>
            </a:r>
          </a:p>
          <a:p>
            <a:pPr algn="l">
              <a:spcBef>
                <a:spcPts val="800"/>
              </a:spcBef>
              <a:spcAft>
                <a:spcPts val="400"/>
              </a:spcAft>
              <a:defRPr sz="1800" b="0" i="0">
                <a:solidFill>
                  <a:srgbClr val="2C3E50"/>
                </a:solidFill>
                <a:latin typeface="Avenir Next"/>
              </a:defRPr>
            </a:pPr>
            <a:r>
              <a:t>Chinese image: phenomenological — an absence of light</a:t>
            </a:r>
          </a:p>
          <a:p>
            <a:pPr algn="l">
              <a:spcBef>
                <a:spcPts val="800"/>
              </a:spcBef>
              <a:spcAft>
                <a:spcPts val="400"/>
              </a:spcAft>
              <a:defRPr sz="1800" b="0" i="0">
                <a:solidFill>
                  <a:srgbClr val="2C3E50"/>
                </a:solidFill>
                <a:latin typeface="Avenir Next"/>
              </a:defRPr>
            </a:pPr>
            <a:r>
              <a:t>Small shift, real consequences for practice</a:t>
            </a:r>
          </a:p>
          <a:p>
            <a:pPr algn="l">
              <a:spcBef>
                <a:spcPts val="800"/>
              </a:spcBef>
              <a:spcAft>
                <a:spcPts val="400"/>
              </a:spcAft>
              <a:defRPr sz="1800" b="0" i="0">
                <a:solidFill>
                  <a:srgbClr val="2C3E50"/>
                </a:solidFill>
                <a:latin typeface="Avenir Next"/>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svarupa vs. 自性 zixing — The Gap Is the Finding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Yoga Sutras: svarupa = "own form"</a:t>
            </a:r>
          </a:p>
          <a:p>
            <a:pPr algn="l">
              <a:spcBef>
                <a:spcPts val="800"/>
              </a:spcBef>
              <a:spcAft>
                <a:spcPts val="400"/>
              </a:spcAft>
              <a:defRPr sz="1800" b="0" i="0">
                <a:solidFill>
                  <a:srgbClr val="2C3E50"/>
                </a:solidFill>
                <a:latin typeface="Avenir Next"/>
              </a:defRPr>
            </a:pPr>
            <a:r>
              <a:t>YS 1.3: "The seer abides in its own form"</a:t>
            </a:r>
          </a:p>
          <a:p>
            <a:pPr algn="l">
              <a:spcBef>
                <a:spcPts val="800"/>
              </a:spcBef>
              <a:spcAft>
                <a:spcPts val="400"/>
              </a:spcAft>
              <a:defRPr sz="1800" b="0" i="0">
                <a:solidFill>
                  <a:srgbClr val="2C3E50"/>
                </a:solidFill>
                <a:latin typeface="Avenir Next"/>
              </a:defRPr>
            </a:pPr>
            <a:r>
              <a:t>Purusa has a real essential nature</a:t>
            </a:r>
          </a:p>
          <a:p>
            <a:pPr algn="l">
              <a:spcBef>
                <a:spcPts val="800"/>
              </a:spcBef>
              <a:spcAft>
                <a:spcPts val="400"/>
              </a:spcAft>
              <a:defRPr sz="1800" b="0" i="0">
                <a:solidFill>
                  <a:srgbClr val="2C3E50"/>
                </a:solidFill>
                <a:latin typeface="Avenir Next"/>
              </a:defRPr>
            </a:pPr>
            <a:r>
              <a:t>Meditation reveals it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Chinese Madhyamaka: 自性 zixing = "own nature"</a:t>
            </a:r>
          </a:p>
          <a:p>
            <a:pPr algn="l">
              <a:spcBef>
                <a:spcPts val="800"/>
              </a:spcBef>
              <a:spcAft>
                <a:spcPts val="400"/>
              </a:spcAft>
              <a:defRPr sz="1800" b="0" i="0">
                <a:solidFill>
                  <a:srgbClr val="2C3E50"/>
                </a:solidFill>
                <a:latin typeface="Avenir Next"/>
              </a:defRPr>
            </a:pPr>
            <a:r>
              <a:t>Central insight: 自性空 — "empty of own-nature"</a:t>
            </a:r>
          </a:p>
          <a:p>
            <a:pPr algn="l">
              <a:spcBef>
                <a:spcPts val="800"/>
              </a:spcBef>
              <a:spcAft>
                <a:spcPts val="400"/>
              </a:spcAft>
              <a:defRPr sz="1800" b="0" i="0">
                <a:solidFill>
                  <a:srgbClr val="2C3E50"/>
                </a:solidFill>
                <a:latin typeface="Avenir Next"/>
              </a:defRPr>
            </a:pPr>
            <a:r>
              <a:t>Nothing has inherent nature</a:t>
            </a:r>
          </a:p>
          <a:p>
            <a:pPr algn="l">
              <a:spcBef>
                <a:spcPts val="800"/>
              </a:spcBef>
              <a:spcAft>
                <a:spcPts val="400"/>
              </a:spcAft>
              <a:defRPr sz="1800" b="0" i="0">
                <a:solidFill>
                  <a:srgbClr val="2C3E50"/>
                </a:solidFill>
                <a:latin typeface="Avenir Next"/>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Live Demo — Sanskrit Word Explorer</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84 terms from all 4 chapters of the Yoga Sutras</a:t>
            </a:r>
          </a:p>
          <a:p>
            <a:pPr algn="l">
              <a:spcBef>
                <a:spcPts val="200"/>
              </a:spcBef>
              <a:spcAft>
                <a:spcPts val="600"/>
              </a:spcAft>
              <a:defRPr sz="1800" b="0" i="1">
                <a:solidFill>
                  <a:srgbClr val="2C3E50"/>
                </a:solidFill>
                <a:latin typeface="Avenir Next"/>
              </a:defRPr>
            </a:pPr>
            <a:r>
              <a:t>     Search by English, IAST, or Devanagari</a:t>
            </a:r>
          </a:p>
          <a:p>
            <a:pPr algn="l">
              <a:spcBef>
                <a:spcPts val="200"/>
              </a:spcBef>
              <a:spcAft>
                <a:spcPts val="600"/>
              </a:spcAft>
              <a:defRPr sz="1800" b="0" i="1">
                <a:solidFill>
                  <a:srgbClr val="2C3E50"/>
                </a:solidFill>
                <a:latin typeface="Avenir Next"/>
              </a:defRPr>
            </a:pPr>
            <a:r>
              <a:t>     Color-coded morphological segmentation</a:t>
            </a:r>
          </a:p>
          <a:p>
            <a:pPr algn="l">
              <a:spcBef>
                <a:spcPts val="200"/>
              </a:spcBef>
              <a:spcAft>
                <a:spcPts val="600"/>
              </a:spcAft>
              <a:defRPr sz="1800" b="0" i="1">
                <a:solidFill>
                  <a:srgbClr val="2C3E50"/>
                </a:solidFill>
                <a:latin typeface="Avenir Next"/>
              </a:defRPr>
            </a:pPr>
            <a:r>
              <a:t>     Root, prefix, and suffix breakdown cards</a:t>
            </a:r>
          </a:p>
          <a:p>
            <a:pPr algn="l">
              <a:spcBef>
                <a:spcPts val="200"/>
              </a:spcBef>
              <a:spcAft>
                <a:spcPts val="600"/>
              </a:spcAft>
              <a:defRPr sz="1800" b="0" i="1">
                <a:solidFill>
                  <a:srgbClr val="2C3E50"/>
                </a:solidFill>
                <a:latin typeface="Avenir Next"/>
              </a:defRPr>
            </a:pPr>
            <a:r>
              <a:t>     Philosophical meaning and Yoga Sutras references</a:t>
            </a:r>
          </a:p>
          <a:p>
            <a:pPr algn="l">
              <a:spcBef>
                <a:spcPts val="200"/>
              </a:spcBef>
              <a:spcAft>
                <a:spcPts val="600"/>
              </a:spcAft>
              <a:defRPr sz="1800" b="0" i="1">
                <a:solidFill>
                  <a:srgbClr val="2C3E50"/>
                </a:solidFill>
                <a:latin typeface="Avenir Next"/>
              </a:defRPr>
            </a:pPr>
            <a:r>
              <a:t>     Chinese Buddhist equivalents where attested</a:t>
            </a:r>
          </a:p>
          <a:p>
            <a:pPr algn="l">
              <a:spcBef>
                <a:spcPts val="1600"/>
              </a:spcBef>
              <a:spcAft>
                <a:spcPts val="400"/>
              </a:spcAft>
              <a:defRPr sz="2000" b="1" i="0">
                <a:solidFill>
                  <a:srgbClr val="2C3E50"/>
                </a:solidFill>
                <a:latin typeface="Avenir Next"/>
              </a:defRPr>
            </a:pPr>
            <a:r>
              <a:t>Works offline — no installation needed</a:t>
            </a:r>
          </a:p>
          <a:p>
            <a:pPr algn="l">
              <a:spcBef>
                <a:spcPts val="200"/>
              </a:spcBef>
              <a:spcAft>
                <a:spcPts val="600"/>
              </a:spcAft>
              <a:defRPr sz="1800" b="0" i="1">
                <a:solidFill>
                  <a:srgbClr val="2C3E50"/>
                </a:solidFill>
                <a:latin typeface="Avenir Next"/>
              </a:defRPr>
            </a:pPr>
            <a:r>
              <a:t>     Available for you to explore after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What the Words Know</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Sanskrit word-structure carries philosophical weight</a:t>
            </a:r>
          </a:p>
          <a:p>
            <a:pPr algn="l">
              <a:spcBef>
                <a:spcPts val="200"/>
              </a:spcBef>
              <a:spcAft>
                <a:spcPts val="600"/>
              </a:spcAft>
              <a:defRPr sz="1800" b="0" i="1">
                <a:solidFill>
                  <a:srgbClr val="2C3E50"/>
                </a:solidFill>
                <a:latin typeface="Avenir Next"/>
              </a:defRPr>
            </a:pPr>
            <a:r>
              <a:t>     Roots and prefixes compress arguments about what concepts mean</a:t>
            </a:r>
          </a:p>
          <a:p>
            <a:pPr algn="l">
              <a:spcBef>
                <a:spcPts val="1600"/>
              </a:spcBef>
              <a:spcAft>
                <a:spcPts val="400"/>
              </a:spcAft>
              <a:defRPr sz="2000" b="1" i="0">
                <a:solidFill>
                  <a:srgbClr val="2C3E50"/>
                </a:solidFill>
                <a:latin typeface="Avenir Next"/>
              </a:defRPr>
            </a:pPr>
            <a:r>
              <a:t>Translation is always interpretation</a:t>
            </a:r>
          </a:p>
          <a:p>
            <a:pPr algn="l">
              <a:spcBef>
                <a:spcPts val="200"/>
              </a:spcBef>
              <a:spcAft>
                <a:spcPts val="600"/>
              </a:spcAft>
              <a:defRPr sz="1800" b="0" i="1">
                <a:solidFill>
                  <a:srgbClr val="2C3E50"/>
                </a:solidFill>
                <a:latin typeface="Avenir Next"/>
              </a:defRPr>
            </a:pPr>
            <a:r>
              <a:t>     Sound vs. meaning, darkness vs. ignorance, extinction vs. restraint</a:t>
            </a:r>
          </a:p>
          <a:p>
            <a:pPr algn="l">
              <a:spcBef>
                <a:spcPts val="1600"/>
              </a:spcBef>
              <a:spcAft>
                <a:spcPts val="400"/>
              </a:spcAft>
              <a:defRPr sz="2000" b="1" i="0">
                <a:solidFill>
                  <a:srgbClr val="2C3E50"/>
                </a:solidFill>
                <a:latin typeface="Avenir Next"/>
              </a:defRPr>
            </a:pPr>
            <a:r>
              <a:t>Cross-cultural transmission is real but partial</a:t>
            </a:r>
          </a:p>
          <a:p>
            <a:pPr algn="l">
              <a:spcBef>
                <a:spcPts val="200"/>
              </a:spcBef>
              <a:spcAft>
                <a:spcPts val="600"/>
              </a:spcAft>
              <a:defRPr sz="1800" b="0" i="1">
                <a:solidFill>
                  <a:srgbClr val="2C3E50"/>
                </a:solidFill>
                <a:latin typeface="Avenir Next"/>
              </a:defRPr>
            </a:pPr>
            <a:r>
              <a:t>     dhyāna → zen is rock-solid; the Yoga Sutras' vocabulary has no Chinese equivalent</a:t>
            </a:r>
          </a:p>
          <a:p>
            <a:pPr algn="l">
              <a:spcBef>
                <a:spcPts val="1600"/>
              </a:spcBef>
              <a:spcAft>
                <a:spcPts val="400"/>
              </a:spcAft>
              <a:defRPr sz="2000" b="1" i="0">
                <a:solidFill>
                  <a:srgbClr val="2C3E50"/>
                </a:solidFill>
                <a:latin typeface="Avenir Next"/>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